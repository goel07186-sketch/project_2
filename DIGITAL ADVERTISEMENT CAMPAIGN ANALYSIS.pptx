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D9F9"/>
    <a:srgbClr val="FECEF0"/>
    <a:srgbClr val="FFCCFF"/>
    <a:srgbClr val="F7799D"/>
    <a:srgbClr val="F0B6E5"/>
    <a:srgbClr val="CCFFCC"/>
    <a:srgbClr val="F7D5E0"/>
    <a:srgbClr val="FFCC99"/>
    <a:srgbClr val="FCCAA0"/>
    <a:srgbClr val="FCA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89536" autoAdjust="0"/>
  </p:normalViewPr>
  <p:slideViewPr>
    <p:cSldViewPr snapToGrid="0">
      <p:cViewPr varScale="1">
        <p:scale>
          <a:sx n="74" d="100"/>
          <a:sy n="74" d="100"/>
        </p:scale>
        <p:origin x="4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XCEL\PROJECT_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Sum of Cost</c:v>
          </c:tx>
          <c:spPr>
            <a:gradFill flip="none" rotWithShape="1">
              <a:gsLst>
                <a:gs pos="0">
                  <a:srgbClr val="0069B8">
                    <a:shade val="30000"/>
                    <a:satMod val="115000"/>
                  </a:srgbClr>
                </a:gs>
                <a:gs pos="50000">
                  <a:srgbClr val="0069B8">
                    <a:shade val="67500"/>
                    <a:satMod val="115000"/>
                  </a:srgbClr>
                </a:gs>
                <a:gs pos="100000">
                  <a:srgbClr val="0069B8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Lit>
              <c:ptCount val="4"/>
              <c:pt idx="0">
                <c:v>Facebook April</c:v>
              </c:pt>
              <c:pt idx="1">
                <c:v>Google Ads April</c:v>
              </c:pt>
              <c:pt idx="2">
                <c:v>Instagram April</c:v>
              </c:pt>
              <c:pt idx="3">
                <c:v>YouTube April</c:v>
              </c:pt>
            </c:strLit>
          </c:cat>
          <c:val>
            <c:numLit>
              <c:formatCode>General</c:formatCode>
              <c:ptCount val="4"/>
              <c:pt idx="0">
                <c:v>14000</c:v>
              </c:pt>
              <c:pt idx="1">
                <c:v>16000</c:v>
              </c:pt>
              <c:pt idx="2">
                <c:v>24500</c:v>
              </c:pt>
              <c:pt idx="3">
                <c:v>15000</c:v>
              </c:pt>
            </c:numLit>
          </c:val>
          <c:extLst>
            <c:ext xmlns:c16="http://schemas.microsoft.com/office/drawing/2014/chart" uri="{C3380CC4-5D6E-409C-BE32-E72D297353CC}">
              <c16:uniqueId val="{00000000-664E-4C58-A60D-9269D089E30D}"/>
            </c:ext>
          </c:extLst>
        </c:ser>
        <c:ser>
          <c:idx val="1"/>
          <c:order val="1"/>
          <c:tx>
            <c:v>Sum of Profit</c:v>
          </c:tx>
          <c:spPr>
            <a:gradFill flip="none" rotWithShape="1">
              <a:gsLst>
                <a:gs pos="0">
                  <a:schemeClr val="accent2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2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2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Lit>
              <c:ptCount val="4"/>
              <c:pt idx="0">
                <c:v>Facebook April</c:v>
              </c:pt>
              <c:pt idx="1">
                <c:v>Google Ads April</c:v>
              </c:pt>
              <c:pt idx="2">
                <c:v>Instagram April</c:v>
              </c:pt>
              <c:pt idx="3">
                <c:v>YouTube April</c:v>
              </c:pt>
            </c:strLit>
          </c:cat>
          <c:val>
            <c:numLit>
              <c:formatCode>General</c:formatCode>
              <c:ptCount val="4"/>
              <c:pt idx="0">
                <c:v>34000</c:v>
              </c:pt>
              <c:pt idx="1">
                <c:v>46000</c:v>
              </c:pt>
              <c:pt idx="2">
                <c:v>66500</c:v>
              </c:pt>
              <c:pt idx="3">
                <c:v>45000</c:v>
              </c:pt>
            </c:numLit>
          </c:val>
          <c:extLst>
            <c:ext xmlns:c16="http://schemas.microsoft.com/office/drawing/2014/chart" uri="{C3380CC4-5D6E-409C-BE32-E72D297353CC}">
              <c16:uniqueId val="{00000001-664E-4C58-A60D-9269D089E3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576064"/>
        <c:axId val="774565504"/>
      </c:barChart>
      <c:catAx>
        <c:axId val="77457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565504"/>
        <c:crosses val="autoZero"/>
        <c:auto val="1"/>
        <c:lblAlgn val="ctr"/>
        <c:lblOffset val="100"/>
        <c:noMultiLvlLbl val="0"/>
      </c:catAx>
      <c:valAx>
        <c:axId val="774565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5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57606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solidFill>
        <a:srgbClr val="0070C0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12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May</c:v>
                  </c:pt>
                  <c:pt idx="1">
                    <c:v>May</c:v>
                  </c:pt>
                  <c:pt idx="2">
                    <c:v>May</c:v>
                  </c:pt>
                  <c:pt idx="3">
                    <c:v>May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24500</c:v>
                </c:pt>
                <c:pt idx="1">
                  <c:v>18000</c:v>
                </c:pt>
                <c:pt idx="2">
                  <c:v>19000</c:v>
                </c:pt>
                <c:pt idx="3">
                  <c:v>13000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4-4840-87C7-D71B323331EF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chemeClr val="accent3">
                    <a:lumMod val="75000"/>
                    <a:shade val="30000"/>
                    <a:satMod val="115000"/>
                  </a:schemeClr>
                </a:gs>
                <a:gs pos="50000">
                  <a:schemeClr val="accent3">
                    <a:lumMod val="75000"/>
                    <a:shade val="67500"/>
                    <a:satMod val="115000"/>
                  </a:schemeClr>
                </a:gs>
                <a:gs pos="100000">
                  <a:schemeClr val="accent3">
                    <a:lumMod val="75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May</c:v>
                  </c:pt>
                  <c:pt idx="1">
                    <c:v>May</c:v>
                  </c:pt>
                  <c:pt idx="2">
                    <c:v>May</c:v>
                  </c:pt>
                  <c:pt idx="3">
                    <c:v>May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64000</c:v>
                </c:pt>
                <c:pt idx="1">
                  <c:v>52000</c:v>
                </c:pt>
                <c:pt idx="2">
                  <c:v>53000</c:v>
                </c:pt>
                <c:pt idx="3">
                  <c:v>34000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D4-4840-87C7-D71B323331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>
          <a:glow rad="63500">
            <a:srgbClr val="00B0F0">
              <a:alpha val="40000"/>
            </a:srgbClr>
          </a:glow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solidFill>
        <a:srgbClr val="0069B8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Sum of Cost</c:v>
          </c:tx>
          <c:spPr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Lit>
              <c:ptCount val="4"/>
              <c:pt idx="0">
                <c:v>Facebook June</c:v>
              </c:pt>
              <c:pt idx="1">
                <c:v>Google Ads June</c:v>
              </c:pt>
              <c:pt idx="2">
                <c:v>Instagram June</c:v>
              </c:pt>
              <c:pt idx="3">
                <c:v>YouTube June</c:v>
              </c:pt>
            </c:strLit>
          </c:cat>
          <c:val>
            <c:numLit>
              <c:formatCode>General</c:formatCode>
              <c:ptCount val="4"/>
              <c:pt idx="0">
                <c:v>23000</c:v>
              </c:pt>
              <c:pt idx="1">
                <c:v>21000</c:v>
              </c:pt>
              <c:pt idx="2">
                <c:v>22000</c:v>
              </c:pt>
              <c:pt idx="3">
                <c:v>39500</c:v>
              </c:pt>
            </c:numLit>
          </c:val>
          <c:extLst>
            <c:ext xmlns:c16="http://schemas.microsoft.com/office/drawing/2014/chart" uri="{C3380CC4-5D6E-409C-BE32-E72D297353CC}">
              <c16:uniqueId val="{00000000-9696-43DC-9C88-28A945B0A054}"/>
            </c:ext>
          </c:extLst>
        </c:ser>
        <c:ser>
          <c:idx val="1"/>
          <c:order val="1"/>
          <c:tx>
            <c:v>Sum of Profit</c:v>
          </c:tx>
          <c:spPr>
            <a:gradFill flip="none" rotWithShape="1">
              <a:gsLst>
                <a:gs pos="0">
                  <a:srgbClr val="00FF00">
                    <a:shade val="30000"/>
                    <a:satMod val="115000"/>
                  </a:srgbClr>
                </a:gs>
                <a:gs pos="50000">
                  <a:srgbClr val="00FF00">
                    <a:shade val="67500"/>
                    <a:satMod val="115000"/>
                  </a:srgbClr>
                </a:gs>
                <a:gs pos="100000">
                  <a:srgbClr val="00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Lit>
              <c:ptCount val="4"/>
              <c:pt idx="0">
                <c:v>Facebook June</c:v>
              </c:pt>
              <c:pt idx="1">
                <c:v>Google Ads June</c:v>
              </c:pt>
              <c:pt idx="2">
                <c:v>Instagram June</c:v>
              </c:pt>
              <c:pt idx="3">
                <c:v>YouTube June</c:v>
              </c:pt>
            </c:strLit>
          </c:cat>
          <c:val>
            <c:numLit>
              <c:formatCode>General</c:formatCode>
              <c:ptCount val="4"/>
              <c:pt idx="0">
                <c:v>63000</c:v>
              </c:pt>
              <c:pt idx="1">
                <c:v>61000</c:v>
              </c:pt>
              <c:pt idx="2">
                <c:v>62000</c:v>
              </c:pt>
              <c:pt idx="3">
                <c:v>113000</c:v>
              </c:pt>
            </c:numLit>
          </c:val>
          <c:extLst>
            <c:ext xmlns:c16="http://schemas.microsoft.com/office/drawing/2014/chart" uri="{C3380CC4-5D6E-409C-BE32-E72D297353CC}">
              <c16:uniqueId val="{00000001-9696-43DC-9C88-28A945B0A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25645919"/>
        <c:axId val="1225640159"/>
      </c:barChart>
      <c:catAx>
        <c:axId val="1225645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640159"/>
        <c:crosses val="autoZero"/>
        <c:auto val="1"/>
        <c:lblAlgn val="ctr"/>
        <c:lblOffset val="100"/>
        <c:noMultiLvlLbl val="0"/>
      </c:catAx>
      <c:valAx>
        <c:axId val="1225640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64591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CCFF99"/>
    </a:solidFill>
    <a:ln>
      <a:solidFill>
        <a:schemeClr val="accent1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1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985EAA">
                    <a:shade val="30000"/>
                    <a:satMod val="115000"/>
                  </a:srgbClr>
                </a:gs>
                <a:gs pos="50000">
                  <a:srgbClr val="985EAA">
                    <a:shade val="67500"/>
                    <a:satMod val="115000"/>
                  </a:srgbClr>
                </a:gs>
                <a:gs pos="100000">
                  <a:srgbClr val="985EAA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July</c:v>
                  </c:pt>
                  <c:pt idx="1">
                    <c:v>July</c:v>
                  </c:pt>
                  <c:pt idx="2">
                    <c:v>July</c:v>
                  </c:pt>
                  <c:pt idx="3">
                    <c:v>July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26000</c:v>
                </c:pt>
                <c:pt idx="1">
                  <c:v>42500</c:v>
                </c:pt>
                <c:pt idx="2">
                  <c:v>25000</c:v>
                </c:pt>
                <c:pt idx="3">
                  <c:v>27000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42-4006-9AA4-4CD21717AA9B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July</c:v>
                  </c:pt>
                  <c:pt idx="1">
                    <c:v>July</c:v>
                  </c:pt>
                  <c:pt idx="2">
                    <c:v>July</c:v>
                  </c:pt>
                  <c:pt idx="3">
                    <c:v>July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66000</c:v>
                </c:pt>
                <c:pt idx="1">
                  <c:v>116000</c:v>
                </c:pt>
                <c:pt idx="2">
                  <c:v>65000</c:v>
                </c:pt>
                <c:pt idx="3">
                  <c:v>67000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42-4006-9AA4-4CD21717A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7BFDC"/>
    </a:solidFill>
    <a:ln>
      <a:solidFill>
        <a:schemeClr val="accent1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7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FCCAA0">
                    <a:shade val="30000"/>
                    <a:satMod val="115000"/>
                  </a:srgbClr>
                </a:gs>
                <a:gs pos="50000">
                  <a:srgbClr val="FCCAA0">
                    <a:shade val="67500"/>
                    <a:satMod val="115000"/>
                  </a:srgbClr>
                </a:gs>
                <a:gs pos="100000">
                  <a:srgbClr val="FCCAA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August</c:v>
                  </c:pt>
                  <c:pt idx="1">
                    <c:v>August</c:v>
                  </c:pt>
                  <c:pt idx="2">
                    <c:v>August</c:v>
                  </c:pt>
                  <c:pt idx="3">
                    <c:v>August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29000</c:v>
                </c:pt>
                <c:pt idx="1">
                  <c:v>31000</c:v>
                </c:pt>
                <c:pt idx="2">
                  <c:v>48500</c:v>
                </c:pt>
                <c:pt idx="3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87-427A-B25D-7A81341A5E66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F7799D">
                    <a:shade val="30000"/>
                    <a:satMod val="115000"/>
                  </a:srgbClr>
                </a:gs>
                <a:gs pos="50000">
                  <a:srgbClr val="F7799D">
                    <a:shade val="67500"/>
                    <a:satMod val="115000"/>
                  </a:srgbClr>
                </a:gs>
                <a:gs pos="100000">
                  <a:srgbClr val="F7799D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August</c:v>
                  </c:pt>
                  <c:pt idx="1">
                    <c:v>August</c:v>
                  </c:pt>
                  <c:pt idx="2">
                    <c:v>August</c:v>
                  </c:pt>
                  <c:pt idx="3">
                    <c:v>August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69000</c:v>
                </c:pt>
                <c:pt idx="1">
                  <c:v>71000</c:v>
                </c:pt>
                <c:pt idx="2">
                  <c:v>128000</c:v>
                </c:pt>
                <c:pt idx="3">
                  <c:v>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87-427A-B25D-7A81341A5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AB18E"/>
    </a:solidFill>
    <a:ln>
      <a:solidFill>
        <a:schemeClr val="accent1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90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6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6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September</c:v>
                  </c:pt>
                  <c:pt idx="1">
                    <c:v>September</c:v>
                  </c:pt>
                  <c:pt idx="2">
                    <c:v>September</c:v>
                  </c:pt>
                  <c:pt idx="3">
                    <c:v>September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53500</c:v>
                </c:pt>
                <c:pt idx="1">
                  <c:v>34000</c:v>
                </c:pt>
                <c:pt idx="2">
                  <c:v>35000</c:v>
                </c:pt>
                <c:pt idx="3">
                  <c:v>33000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E9-48DC-8492-25C4B1421602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September</c:v>
                  </c:pt>
                  <c:pt idx="1">
                    <c:v>September</c:v>
                  </c:pt>
                  <c:pt idx="2">
                    <c:v>September</c:v>
                  </c:pt>
                  <c:pt idx="3">
                    <c:v>September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133000</c:v>
                </c:pt>
                <c:pt idx="1">
                  <c:v>74000</c:v>
                </c:pt>
                <c:pt idx="2">
                  <c:v>75000</c:v>
                </c:pt>
                <c:pt idx="3">
                  <c:v>73000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E9-48DC-8492-25C4B1421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8FAA4"/>
    </a:solidFill>
    <a:ln>
      <a:solidFill>
        <a:srgbClr val="0070C0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9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E7D9F9">
                    <a:shade val="30000"/>
                    <a:satMod val="115000"/>
                  </a:srgbClr>
                </a:gs>
                <a:gs pos="50000">
                  <a:srgbClr val="E7D9F9">
                    <a:shade val="67500"/>
                    <a:satMod val="115000"/>
                  </a:srgbClr>
                </a:gs>
                <a:gs pos="100000">
                  <a:srgbClr val="E7D9F9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October</c:v>
                  </c:pt>
                  <c:pt idx="1">
                    <c:v>October</c:v>
                  </c:pt>
                  <c:pt idx="2">
                    <c:v>October</c:v>
                  </c:pt>
                  <c:pt idx="3">
                    <c:v>October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39000</c:v>
                </c:pt>
                <c:pt idx="1">
                  <c:v>37000</c:v>
                </c:pt>
                <c:pt idx="2">
                  <c:v>38000</c:v>
                </c:pt>
                <c:pt idx="3">
                  <c:v>58500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5-476C-AA13-A049741EAFB8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CCFFCC">
                    <a:shade val="30000"/>
                    <a:satMod val="115000"/>
                  </a:srgbClr>
                </a:gs>
                <a:gs pos="50000">
                  <a:srgbClr val="CCFFCC">
                    <a:shade val="67500"/>
                    <a:satMod val="115000"/>
                  </a:srgbClr>
                </a:gs>
                <a:gs pos="100000">
                  <a:srgbClr val="CCFF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October</c:v>
                  </c:pt>
                  <c:pt idx="1">
                    <c:v>October</c:v>
                  </c:pt>
                  <c:pt idx="2">
                    <c:v>October</c:v>
                  </c:pt>
                  <c:pt idx="3">
                    <c:v>October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79000</c:v>
                </c:pt>
                <c:pt idx="1">
                  <c:v>77000</c:v>
                </c:pt>
                <c:pt idx="2">
                  <c:v>78000</c:v>
                </c:pt>
                <c:pt idx="3">
                  <c:v>149000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15-476C-AA13-A049741EA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CCFFFF"/>
    </a:solidFill>
    <a:ln>
      <a:solidFill>
        <a:srgbClr val="0070C0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12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CCFFCC">
                    <a:shade val="30000"/>
                    <a:satMod val="115000"/>
                  </a:srgbClr>
                </a:gs>
                <a:gs pos="50000">
                  <a:srgbClr val="CCFFCC">
                    <a:shade val="67500"/>
                    <a:satMod val="115000"/>
                  </a:srgbClr>
                </a:gs>
                <a:gs pos="100000">
                  <a:srgbClr val="CCFF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November</c:v>
                  </c:pt>
                  <c:pt idx="1">
                    <c:v>November</c:v>
                  </c:pt>
                  <c:pt idx="2">
                    <c:v>November</c:v>
                  </c:pt>
                  <c:pt idx="3">
                    <c:v>November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42000</c:v>
                </c:pt>
                <c:pt idx="1">
                  <c:v>40000</c:v>
                </c:pt>
                <c:pt idx="2">
                  <c:v>41000</c:v>
                </c:pt>
                <c:pt idx="3">
                  <c:v>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4-4CAD-A017-F76DA4F3F444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November</c:v>
                  </c:pt>
                  <c:pt idx="1">
                    <c:v>November</c:v>
                  </c:pt>
                  <c:pt idx="2">
                    <c:v>November</c:v>
                  </c:pt>
                  <c:pt idx="3">
                    <c:v>November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82000</c:v>
                </c:pt>
                <c:pt idx="1">
                  <c:v>80000</c:v>
                </c:pt>
                <c:pt idx="2">
                  <c:v>81000</c:v>
                </c:pt>
                <c:pt idx="3">
                  <c:v>83000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74-4CAD-A017-F76DA4F3F4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83A998"/>
    </a:solidFill>
    <a:ln>
      <a:solidFill>
        <a:srgbClr val="0069B8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[PROJECT_2.xlsx]Sheet1!PivotTable3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Sheet1!$C$121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F0B6E5">
                    <a:shade val="30000"/>
                    <a:satMod val="115000"/>
                  </a:srgbClr>
                </a:gs>
                <a:gs pos="50000">
                  <a:srgbClr val="F0B6E5">
                    <a:shade val="67500"/>
                    <a:satMod val="115000"/>
                  </a:srgbClr>
                </a:gs>
                <a:gs pos="100000">
                  <a:srgbClr val="F0B6E5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Sheet1!$B$122:$B$130</c:f>
              <c:multiLvlStrCache>
                <c:ptCount val="4"/>
                <c:lvl>
                  <c:pt idx="0">
                    <c:v>December</c:v>
                  </c:pt>
                  <c:pt idx="1">
                    <c:v>December</c:v>
                  </c:pt>
                  <c:pt idx="2">
                    <c:v>December</c:v>
                  </c:pt>
                  <c:pt idx="3">
                    <c:v>December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Sheet1!$C$122:$C$130</c:f>
              <c:numCache>
                <c:formatCode>General</c:formatCode>
                <c:ptCount val="4"/>
                <c:pt idx="0">
                  <c:v>46000</c:v>
                </c:pt>
                <c:pt idx="1">
                  <c:v>44000</c:v>
                </c:pt>
                <c:pt idx="2">
                  <c:v>45000</c:v>
                </c:pt>
                <c:pt idx="3">
                  <c:v>47000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3B-4534-9415-5BE8DF5E9A7E}"/>
            </c:ext>
          </c:extLst>
        </c:ser>
        <c:ser>
          <c:idx val="1"/>
          <c:order val="1"/>
          <c:tx>
            <c:strRef>
              <c:f>Sheet1!$D$121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FFCC99">
                    <a:shade val="30000"/>
                    <a:satMod val="115000"/>
                  </a:srgbClr>
                </a:gs>
                <a:gs pos="50000">
                  <a:srgbClr val="FFCC99">
                    <a:shade val="67500"/>
                    <a:satMod val="115000"/>
                  </a:srgbClr>
                </a:gs>
                <a:gs pos="100000">
                  <a:srgbClr val="FFCC99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Sheet1!$B$122:$B$130</c:f>
              <c:multiLvlStrCache>
                <c:ptCount val="4"/>
                <c:lvl>
                  <c:pt idx="0">
                    <c:v>December</c:v>
                  </c:pt>
                  <c:pt idx="1">
                    <c:v>December</c:v>
                  </c:pt>
                  <c:pt idx="2">
                    <c:v>December</c:v>
                  </c:pt>
                  <c:pt idx="3">
                    <c:v>December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Sheet1!$D$122:$D$130</c:f>
              <c:numCache>
                <c:formatCode>General</c:formatCode>
                <c:ptCount val="4"/>
                <c:pt idx="0">
                  <c:v>86000</c:v>
                </c:pt>
                <c:pt idx="1">
                  <c:v>84000</c:v>
                </c:pt>
                <c:pt idx="2">
                  <c:v>85000</c:v>
                </c:pt>
                <c:pt idx="3">
                  <c:v>87000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3B-4534-9415-5BE8DF5E9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5049295"/>
        <c:axId val="1755064175"/>
      </c:barChart>
      <c:catAx>
        <c:axId val="175504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064175"/>
        <c:crosses val="autoZero"/>
        <c:auto val="1"/>
        <c:lblAlgn val="ctr"/>
        <c:lblOffset val="100"/>
        <c:noMultiLvlLbl val="0"/>
      </c:catAx>
      <c:valAx>
        <c:axId val="1755064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04929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7D9F9"/>
    </a:solidFill>
    <a:ln>
      <a:noFill/>
    </a:ln>
    <a:effectLst/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[PROJECT_2.xlsx]Sheet1!PivotTable2</c:name>
    <c:fmtId val="120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Sheet1!$H$108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2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2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January</c:v>
                  </c:pt>
                  <c:pt idx="1">
                    <c:v>January</c:v>
                  </c:pt>
                  <c:pt idx="2">
                    <c:v>January</c:v>
                  </c:pt>
                  <c:pt idx="3">
                    <c:v>January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Sheet1!$H$109:$H$117</c:f>
              <c:numCache>
                <c:formatCode>General</c:formatCode>
                <c:ptCount val="4"/>
                <c:pt idx="0">
                  <c:v>50000</c:v>
                </c:pt>
                <c:pt idx="1">
                  <c:v>48000</c:v>
                </c:pt>
                <c:pt idx="2">
                  <c:v>49000</c:v>
                </c:pt>
                <c:pt idx="3">
                  <c:v>51000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86-434A-9344-EE5BA9764E30}"/>
            </c:ext>
          </c:extLst>
        </c:ser>
        <c:ser>
          <c:idx val="1"/>
          <c:order val="1"/>
          <c:tx>
            <c:strRef>
              <c:f>Sheet1!$I$108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F7799D">
                    <a:shade val="30000"/>
                    <a:satMod val="115000"/>
                  </a:srgbClr>
                </a:gs>
                <a:gs pos="50000">
                  <a:srgbClr val="F7799D">
                    <a:shade val="67500"/>
                    <a:satMod val="115000"/>
                  </a:srgbClr>
                </a:gs>
                <a:gs pos="100000">
                  <a:srgbClr val="F7799D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Sheet1!$G$109:$G$117</c:f>
              <c:multiLvlStrCache>
                <c:ptCount val="4"/>
                <c:lvl>
                  <c:pt idx="0">
                    <c:v>January</c:v>
                  </c:pt>
                  <c:pt idx="1">
                    <c:v>January</c:v>
                  </c:pt>
                  <c:pt idx="2">
                    <c:v>January</c:v>
                  </c:pt>
                  <c:pt idx="3">
                    <c:v>January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Sheet1!$I$109:$I$117</c:f>
              <c:numCache>
                <c:formatCode>General</c:formatCode>
                <c:ptCount val="4"/>
                <c:pt idx="0">
                  <c:v>90000</c:v>
                </c:pt>
                <c:pt idx="1">
                  <c:v>88000</c:v>
                </c:pt>
                <c:pt idx="2">
                  <c:v>89000</c:v>
                </c:pt>
                <c:pt idx="3">
                  <c:v>91000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86-434A-9344-EE5BA9764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461792"/>
        <c:axId val="919481952"/>
      </c:barChart>
      <c:catAx>
        <c:axId val="91946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81952"/>
        <c:crosses val="autoZero"/>
        <c:auto val="1"/>
        <c:lblAlgn val="ctr"/>
        <c:lblOffset val="100"/>
        <c:noMultiLvlLbl val="0"/>
      </c:catAx>
      <c:valAx>
        <c:axId val="91948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461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8BABA"/>
    </a:solidFill>
    <a:ln>
      <a:solidFill>
        <a:srgbClr val="0069B8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Sheet1!$C$132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rgbClr val="F7D5E0">
                    <a:shade val="30000"/>
                    <a:satMod val="115000"/>
                  </a:srgbClr>
                </a:gs>
                <a:gs pos="50000">
                  <a:srgbClr val="F7D5E0">
                    <a:shade val="67500"/>
                    <a:satMod val="115000"/>
                  </a:srgbClr>
                </a:gs>
                <a:gs pos="100000">
                  <a:srgbClr val="F7D5E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Sheet1!$B$133:$B$141</c:f>
              <c:multiLvlStrCache>
                <c:ptCount val="4"/>
                <c:lvl>
                  <c:pt idx="0">
                    <c:v>February</c:v>
                  </c:pt>
                  <c:pt idx="1">
                    <c:v>February</c:v>
                  </c:pt>
                  <c:pt idx="2">
                    <c:v>February</c:v>
                  </c:pt>
                  <c:pt idx="3">
                    <c:v>February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Sheet1!$C$133:$C$141</c:f>
              <c:numCache>
                <c:formatCode>General</c:formatCode>
                <c:ptCount val="4"/>
                <c:pt idx="0">
                  <c:v>54000</c:v>
                </c:pt>
                <c:pt idx="1">
                  <c:v>52000</c:v>
                </c:pt>
                <c:pt idx="2">
                  <c:v>53000</c:v>
                </c:pt>
                <c:pt idx="3">
                  <c:v>55000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9E-4370-8244-C3EF99B3DE5B}"/>
            </c:ext>
          </c:extLst>
        </c:ser>
        <c:ser>
          <c:idx val="1"/>
          <c:order val="1"/>
          <c:tx>
            <c:strRef>
              <c:f>Sheet1!$D$132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2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2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Sheet1!$B$133:$B$141</c:f>
              <c:multiLvlStrCache>
                <c:ptCount val="4"/>
                <c:lvl>
                  <c:pt idx="0">
                    <c:v>February</c:v>
                  </c:pt>
                  <c:pt idx="1">
                    <c:v>February</c:v>
                  </c:pt>
                  <c:pt idx="2">
                    <c:v>February</c:v>
                  </c:pt>
                  <c:pt idx="3">
                    <c:v>February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Sheet1!$D$133:$D$141</c:f>
              <c:numCache>
                <c:formatCode>General</c:formatCode>
                <c:ptCount val="4"/>
                <c:pt idx="0">
                  <c:v>94000</c:v>
                </c:pt>
                <c:pt idx="1">
                  <c:v>92000</c:v>
                </c:pt>
                <c:pt idx="2">
                  <c:v>93000</c:v>
                </c:pt>
                <c:pt idx="3">
                  <c:v>95000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9E-4370-8244-C3EF99B3D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0630095"/>
        <c:axId val="1920619055"/>
      </c:barChart>
      <c:catAx>
        <c:axId val="1920630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619055"/>
        <c:crosses val="autoZero"/>
        <c:auto val="1"/>
        <c:lblAlgn val="ctr"/>
        <c:lblOffset val="100"/>
        <c:noMultiLvlLbl val="0"/>
      </c:catAx>
      <c:valAx>
        <c:axId val="192061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63009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CA0C7"/>
    </a:solidFill>
    <a:ln>
      <a:solidFill>
        <a:srgbClr val="0069B8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[PROJECT_2.xlsx]Sheet1!PivotTable4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Sheet1!$C$144</c:f>
              <c:strCache>
                <c:ptCount val="1"/>
                <c:pt idx="0">
                  <c:v>Sum of Cost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1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1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Sheet1!$B$145:$B$153</c:f>
              <c:multiLvlStrCache>
                <c:ptCount val="4"/>
                <c:lvl>
                  <c:pt idx="0">
                    <c:v>March'</c:v>
                  </c:pt>
                  <c:pt idx="1">
                    <c:v>March'</c:v>
                  </c:pt>
                  <c:pt idx="2">
                    <c:v>March'</c:v>
                  </c:pt>
                  <c:pt idx="3">
                    <c:v>March'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Sheet1!$C$145:$C$153</c:f>
              <c:numCache>
                <c:formatCode>General</c:formatCode>
                <c:ptCount val="4"/>
                <c:pt idx="0">
                  <c:v>936000</c:v>
                </c:pt>
                <c:pt idx="1">
                  <c:v>912000</c:v>
                </c:pt>
                <c:pt idx="2">
                  <c:v>924000</c:v>
                </c:pt>
                <c:pt idx="3">
                  <c:v>1023000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7-4998-967C-9DCB85ECCC16}"/>
            </c:ext>
          </c:extLst>
        </c:ser>
        <c:ser>
          <c:idx val="1"/>
          <c:order val="1"/>
          <c:tx>
            <c:strRef>
              <c:f>Sheet1!$D$144</c:f>
              <c:strCache>
                <c:ptCount val="1"/>
                <c:pt idx="0">
                  <c:v>Sum of Profit</c:v>
                </c:pt>
              </c:strCache>
            </c:strRef>
          </c:tx>
          <c:spPr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multiLvlStrRef>
              <c:f>Sheet1!$B$145:$B$153</c:f>
              <c:multiLvlStrCache>
                <c:ptCount val="4"/>
                <c:lvl>
                  <c:pt idx="0">
                    <c:v>March'</c:v>
                  </c:pt>
                  <c:pt idx="1">
                    <c:v>March'</c:v>
                  </c:pt>
                  <c:pt idx="2">
                    <c:v>March'</c:v>
                  </c:pt>
                  <c:pt idx="3">
                    <c:v>March'</c:v>
                  </c:pt>
                </c:lvl>
                <c:lvl>
                  <c:pt idx="0">
                    <c:v>Facebook</c:v>
                  </c:pt>
                  <c:pt idx="1">
                    <c:v>Google Ads</c:v>
                  </c:pt>
                  <c:pt idx="2">
                    <c:v>Instagram</c:v>
                  </c:pt>
                  <c:pt idx="3">
                    <c:v>YouTube</c:v>
                  </c:pt>
                </c:lvl>
              </c:multiLvlStrCache>
            </c:multiLvlStrRef>
          </c:cat>
          <c:val>
            <c:numRef>
              <c:f>Sheet1!$D$145:$D$153</c:f>
              <c:numCache>
                <c:formatCode>General</c:formatCode>
                <c:ptCount val="4"/>
                <c:pt idx="0">
                  <c:v>1416000</c:v>
                </c:pt>
                <c:pt idx="1">
                  <c:v>1392000</c:v>
                </c:pt>
                <c:pt idx="2">
                  <c:v>1404000</c:v>
                </c:pt>
                <c:pt idx="3">
                  <c:v>1543000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97-4998-967C-9DCB85ECCC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0622415"/>
        <c:axId val="1920617615"/>
      </c:barChart>
      <c:catAx>
        <c:axId val="192062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617615"/>
        <c:crosses val="autoZero"/>
        <c:auto val="1"/>
        <c:lblAlgn val="ctr"/>
        <c:lblOffset val="100"/>
        <c:noMultiLvlLbl val="0"/>
      </c:catAx>
      <c:valAx>
        <c:axId val="1920617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62241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33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20000"/>
        <a:lumOff val="80000"/>
      </a:schemeClr>
    </a:solidFill>
    <a:ln>
      <a:solidFill>
        <a:srgbClr val="0070C0"/>
      </a:solidFill>
    </a:ln>
    <a:effectLst>
      <a:glow rad="63500">
        <a:srgbClr val="00B0F0">
          <a:alpha val="40000"/>
        </a:srgbClr>
      </a:glow>
    </a:effectLst>
  </c:spPr>
  <c:txPr>
    <a:bodyPr/>
    <a:lstStyle/>
    <a:p>
      <a:pPr>
        <a:defRPr lang="en-US" sz="133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62D7E-B513-4343-ACAE-2C9C2BC88AD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BA2C89B-0FF1-4B03-891E-B706FF5CD4BA}">
      <dgm:prSet phldrT="[Text]" phldr="0"/>
      <dgm:spPr>
        <a:pattFill prst="sphere">
          <a:fgClr>
            <a:schemeClr val="accent1">
              <a:hueOff val="0"/>
              <a:satOff val="0"/>
              <a:lumOff val="0"/>
            </a:schemeClr>
          </a:fgClr>
          <a:bgClr>
            <a:srgbClr val="00B0F0"/>
          </a:bgClr>
        </a:pattFill>
        <a:effectLst/>
      </dgm:spPr>
      <dgm:t>
        <a:bodyPr/>
        <a:lstStyle/>
        <a:p>
          <a:pPr algn="ctr"/>
          <a:r>
            <a:rPr lang="en-US" b="1" dirty="0"/>
            <a:t>TOTAL</a:t>
          </a:r>
        </a:p>
        <a:p>
          <a:pPr algn="ctr"/>
          <a:r>
            <a:rPr lang="en-US" b="1" dirty="0"/>
            <a:t>  COST	</a:t>
          </a:r>
        </a:p>
      </dgm:t>
    </dgm:pt>
    <dgm:pt modelId="{6F7F217A-B21B-45B2-A95C-42299775F3C0}" type="parTrans" cxnId="{42353F49-AA73-4899-9DE8-6B89F0588BEA}">
      <dgm:prSet/>
      <dgm:spPr/>
      <dgm:t>
        <a:bodyPr/>
        <a:lstStyle/>
        <a:p>
          <a:endParaRPr lang="en-IN"/>
        </a:p>
      </dgm:t>
    </dgm:pt>
    <dgm:pt modelId="{EA1E2E86-172A-4461-BA38-AF96E24EA951}" type="sibTrans" cxnId="{42353F49-AA73-4899-9DE8-6B89F0588BEA}">
      <dgm:prSet/>
      <dgm:spPr/>
      <dgm:t>
        <a:bodyPr/>
        <a:lstStyle/>
        <a:p>
          <a:endParaRPr lang="en-IN"/>
        </a:p>
      </dgm:t>
    </dgm:pt>
    <dgm:pt modelId="{2F10A301-2DA3-451A-BC51-B3D500BE25E0}">
      <dgm:prSet phldrT="[Text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r>
            <a:rPr lang="en-US" sz="2100" kern="1200" dirty="0"/>
            <a:t>We spent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53,91,500</a:t>
          </a:r>
          <a:r>
            <a:rPr lang="en-IN" sz="2100" b="0" i="0" u="none" kern="1200" dirty="0"/>
            <a:t> on digital advertising across all platforms during the campaign period .</a:t>
          </a:r>
          <a:endParaRPr lang="en-IN" sz="2100" kern="1200" dirty="0"/>
        </a:p>
      </dgm:t>
    </dgm:pt>
    <dgm:pt modelId="{001668A8-39D7-49D2-AFC7-7EB6067E031C}" type="parTrans" cxnId="{6FDB7856-7F58-4A36-B811-F0FD98AF053F}">
      <dgm:prSet/>
      <dgm:spPr/>
      <dgm:t>
        <a:bodyPr/>
        <a:lstStyle/>
        <a:p>
          <a:endParaRPr lang="en-IN"/>
        </a:p>
      </dgm:t>
    </dgm:pt>
    <dgm:pt modelId="{CE438F09-0ABA-44B7-A2F2-261C2445C220}" type="sibTrans" cxnId="{6FDB7856-7F58-4A36-B811-F0FD98AF053F}">
      <dgm:prSet/>
      <dgm:spPr/>
      <dgm:t>
        <a:bodyPr/>
        <a:lstStyle/>
        <a:p>
          <a:endParaRPr lang="en-IN"/>
        </a:p>
      </dgm:t>
    </dgm:pt>
    <dgm:pt modelId="{0FDB356C-941A-46A1-82CB-D43FC8BB26F9}">
      <dgm:prSet phldrT="[Text]" phldr="0"/>
      <dgm:spPr>
        <a:pattFill prst="sphere">
          <a:fgClr>
            <a:schemeClr val="accent1">
              <a:hueOff val="0"/>
              <a:satOff val="0"/>
              <a:lumOff val="0"/>
            </a:schemeClr>
          </a:fgClr>
          <a:bgClr>
            <a:srgbClr val="00B0F0"/>
          </a:bgClr>
        </a:pattFill>
      </dgm:spPr>
      <dgm:t>
        <a:bodyPr/>
        <a:lstStyle/>
        <a:p>
          <a:r>
            <a:rPr lang="en-US" b="1" dirty="0"/>
            <a:t>TOTAL</a:t>
          </a:r>
        </a:p>
        <a:p>
          <a:r>
            <a:rPr lang="en-IN" b="1" dirty="0"/>
            <a:t>REVENUE</a:t>
          </a:r>
        </a:p>
      </dgm:t>
    </dgm:pt>
    <dgm:pt modelId="{04A06CD8-B15D-476B-ACBB-1C2FAC57DE73}" type="parTrans" cxnId="{D439BBB9-34C8-4B9C-81AF-6F187DB971DE}">
      <dgm:prSet/>
      <dgm:spPr/>
      <dgm:t>
        <a:bodyPr/>
        <a:lstStyle/>
        <a:p>
          <a:endParaRPr lang="en-IN"/>
        </a:p>
      </dgm:t>
    </dgm:pt>
    <dgm:pt modelId="{632B8231-D805-483C-B0EF-DD23477403D8}" type="sibTrans" cxnId="{D439BBB9-34C8-4B9C-81AF-6F187DB971DE}">
      <dgm:prSet/>
      <dgm:spPr/>
      <dgm:t>
        <a:bodyPr/>
        <a:lstStyle/>
        <a:p>
          <a:endParaRPr lang="en-IN"/>
        </a:p>
      </dgm:t>
    </dgm:pt>
    <dgm:pt modelId="{E4DC568C-6F4D-40AB-A1AB-55B2B52EEB98}">
      <dgm:prSet phldrT="[Text]" phldr="0" custT="1"/>
      <dgm:spPr/>
      <dgm:t>
        <a:bodyPr/>
        <a:lstStyle/>
        <a:p>
          <a:r>
            <a:rPr lang="en-US" sz="2100" kern="1200" dirty="0"/>
            <a:t>The campaign generated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1,46,30,000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in total revenue from product sales .</a:t>
          </a:r>
          <a:endParaRPr lang="en-IN" sz="2100" kern="1200" dirty="0"/>
        </a:p>
      </dgm:t>
    </dgm:pt>
    <dgm:pt modelId="{8D6697F0-2194-4921-A74D-D45054B83792}" type="parTrans" cxnId="{D8DB2244-E2AF-4317-AB3A-B45C8CFF7D83}">
      <dgm:prSet/>
      <dgm:spPr/>
      <dgm:t>
        <a:bodyPr/>
        <a:lstStyle/>
        <a:p>
          <a:endParaRPr lang="en-IN"/>
        </a:p>
      </dgm:t>
    </dgm:pt>
    <dgm:pt modelId="{AB44A699-11AB-44F4-93F5-860669C40D5A}" type="sibTrans" cxnId="{D8DB2244-E2AF-4317-AB3A-B45C8CFF7D83}">
      <dgm:prSet/>
      <dgm:spPr/>
      <dgm:t>
        <a:bodyPr/>
        <a:lstStyle/>
        <a:p>
          <a:endParaRPr lang="en-IN"/>
        </a:p>
      </dgm:t>
    </dgm:pt>
    <dgm:pt modelId="{3122ED92-7784-4252-AFA4-853C59576D6B}">
      <dgm:prSet phldrT="[Text]" phldr="0" custT="1"/>
      <dgm:spPr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3820" tIns="41910" rIns="83820" bIns="41910" numCol="1" spcCol="1270" anchor="ctr" anchorCtr="0"/>
        <a:lstStyle/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</a:t>
          </a:r>
        </a:p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PROFIT</a:t>
          </a:r>
        </a:p>
      </dgm:t>
    </dgm:pt>
    <dgm:pt modelId="{4B99C124-FA90-4696-8A7A-9FCA5323D935}" type="parTrans" cxnId="{5191CBD2-A885-4993-8244-AA77C11FA815}">
      <dgm:prSet/>
      <dgm:spPr/>
      <dgm:t>
        <a:bodyPr/>
        <a:lstStyle/>
        <a:p>
          <a:endParaRPr lang="en-IN"/>
        </a:p>
      </dgm:t>
    </dgm:pt>
    <dgm:pt modelId="{4767EE4D-83F8-416B-B037-2D4E1A0010C6}" type="sibTrans" cxnId="{5191CBD2-A885-4993-8244-AA77C11FA815}">
      <dgm:prSet/>
      <dgm:spPr/>
      <dgm:t>
        <a:bodyPr/>
        <a:lstStyle/>
        <a:p>
          <a:endParaRPr lang="en-IN"/>
        </a:p>
      </dgm:t>
    </dgm:pt>
    <dgm:pt modelId="{EB1EB854-A07A-421A-9D02-5B3C38C51EC4}">
      <dgm:prSet phldrT="[Text]" phldr="0" custT="1"/>
      <dgm:spPr/>
      <dgm:t>
        <a:bodyPr/>
        <a:lstStyle/>
        <a:p>
          <a:r>
            <a:rPr lang="en-US" sz="2100" kern="1200" dirty="0"/>
            <a:t>Net profit amounted to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92,38,500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after subtracting advertising costs from total revenue .</a:t>
          </a:r>
          <a:endParaRPr lang="en-IN" sz="2100" kern="1200" dirty="0"/>
        </a:p>
      </dgm:t>
    </dgm:pt>
    <dgm:pt modelId="{77AAC67E-C375-4C0A-9931-36D04E4B12CF}" type="parTrans" cxnId="{B9961169-D0F4-412B-AFEC-C4291B2EF6FC}">
      <dgm:prSet/>
      <dgm:spPr/>
      <dgm:t>
        <a:bodyPr/>
        <a:lstStyle/>
        <a:p>
          <a:endParaRPr lang="en-IN"/>
        </a:p>
      </dgm:t>
    </dgm:pt>
    <dgm:pt modelId="{301089EF-1595-4F4A-8E7B-D2F7FBFABF80}" type="sibTrans" cxnId="{B9961169-D0F4-412B-AFEC-C4291B2EF6FC}">
      <dgm:prSet/>
      <dgm:spPr/>
      <dgm:t>
        <a:bodyPr/>
        <a:lstStyle/>
        <a:p>
          <a:endParaRPr lang="en-IN"/>
        </a:p>
      </dgm:t>
    </dgm:pt>
    <dgm:pt modelId="{3F63C36F-202F-433E-A1CD-558422645BC3}">
      <dgm:prSet phldrT="[Text]" phldr="0"/>
      <dgm:spPr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3820" tIns="41910" rIns="83820" bIns="41910" numCol="1" spcCol="1270" anchor="ctr" anchorCtr="0"/>
        <a:lstStyle/>
        <a:p>
          <a:pPr algn="ctr"/>
          <a:r>
            <a:rPr lang="en-US" b="1" dirty="0"/>
            <a:t>TOTAL</a:t>
          </a:r>
        </a:p>
        <a:p>
          <a:pPr algn="ctr"/>
          <a:r>
            <a:rPr lang="en-US" b="1" dirty="0"/>
            <a:t>            IMPRESSIONS</a:t>
          </a:r>
          <a:endParaRPr lang="en-IN" b="1" dirty="0"/>
        </a:p>
      </dgm:t>
    </dgm:pt>
    <dgm:pt modelId="{47A820CD-8C2C-4F4A-AA38-A4BD5D8D6787}" type="parTrans" cxnId="{EC59B9D2-7058-4ED8-B479-D0E4B56C6156}">
      <dgm:prSet/>
      <dgm:spPr/>
      <dgm:t>
        <a:bodyPr/>
        <a:lstStyle/>
        <a:p>
          <a:endParaRPr lang="en-IN"/>
        </a:p>
      </dgm:t>
    </dgm:pt>
    <dgm:pt modelId="{944A65FC-E69E-478E-93B1-89669154C7A8}" type="sibTrans" cxnId="{EC59B9D2-7058-4ED8-B479-D0E4B56C6156}">
      <dgm:prSet/>
      <dgm:spPr/>
      <dgm:t>
        <a:bodyPr/>
        <a:lstStyle/>
        <a:p>
          <a:endParaRPr lang="en-IN"/>
        </a:p>
      </dgm:t>
    </dgm:pt>
    <dgm:pt modelId="{551E930D-65D1-48B9-A436-9C1013D0FEF2}">
      <dgm:prSet phldrT="[Text]" phldr="0" custT="1"/>
      <dgm:spPr/>
      <dgm:t>
        <a:bodyPr/>
        <a:lstStyle/>
        <a:p>
          <a:r>
            <a:rPr lang="en-US" sz="2100" kern="1200" dirty="0"/>
            <a:t>The ads were displayed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2,69,69,000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times to users across search engines and social media .</a:t>
          </a:r>
          <a:endParaRPr lang="en-IN" sz="2100" kern="1200" dirty="0"/>
        </a:p>
      </dgm:t>
    </dgm:pt>
    <dgm:pt modelId="{274037B1-5EA2-400A-998B-9D72F517104D}" type="parTrans" cxnId="{8F68F5F0-47D0-4B7D-BF33-BE3ECD2FD632}">
      <dgm:prSet/>
      <dgm:spPr/>
      <dgm:t>
        <a:bodyPr/>
        <a:lstStyle/>
        <a:p>
          <a:endParaRPr lang="en-IN"/>
        </a:p>
      </dgm:t>
    </dgm:pt>
    <dgm:pt modelId="{C78E70D4-1180-43D4-9B34-33E98370832C}" type="sibTrans" cxnId="{8F68F5F0-47D0-4B7D-BF33-BE3ECD2FD632}">
      <dgm:prSet/>
      <dgm:spPr/>
      <dgm:t>
        <a:bodyPr/>
        <a:lstStyle/>
        <a:p>
          <a:endParaRPr lang="en-IN"/>
        </a:p>
      </dgm:t>
    </dgm:pt>
    <dgm:pt modelId="{DD9C233D-DA30-47FF-A083-0DD032C15BDC}">
      <dgm:prSet phldrT="[Text]" phldr="0" custT="1"/>
      <dgm:spPr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3820" tIns="41910" rIns="83820" bIns="41910" numCol="1" spcCol="1270" anchor="ctr" anchorCtr="0"/>
        <a:lstStyle/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 </a:t>
          </a:r>
        </a:p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CLICKS</a:t>
          </a:r>
          <a:endParaRPr lang="en-IN" sz="22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C6730C6F-8470-4366-B15C-663034CFD330}" type="parTrans" cxnId="{8B10798C-14AA-4031-BF30-1EFA93A41F0D}">
      <dgm:prSet/>
      <dgm:spPr/>
      <dgm:t>
        <a:bodyPr/>
        <a:lstStyle/>
        <a:p>
          <a:endParaRPr lang="en-IN"/>
        </a:p>
      </dgm:t>
    </dgm:pt>
    <dgm:pt modelId="{FAE01418-D346-433E-A732-A3EA2BFF1FF1}" type="sibTrans" cxnId="{8B10798C-14AA-4031-BF30-1EFA93A41F0D}">
      <dgm:prSet/>
      <dgm:spPr/>
      <dgm:t>
        <a:bodyPr/>
        <a:lstStyle/>
        <a:p>
          <a:endParaRPr lang="en-IN"/>
        </a:p>
      </dgm:t>
    </dgm:pt>
    <dgm:pt modelId="{E1B97495-7FBB-4E17-9657-3E35F5A64B6C}">
      <dgm:prSet phldrT="[Text]" phldr="0"/>
      <dgm:spPr/>
      <dgm:t>
        <a:bodyPr/>
        <a:lstStyle/>
        <a:p>
          <a:r>
            <a:rPr lang="en-US" dirty="0"/>
            <a:t>Out of all impressions, </a:t>
          </a:r>
          <a:r>
            <a:rPr lang="en-IN" b="0" i="0" u="none" dirty="0">
              <a:solidFill>
                <a:srgbClr val="0069B8"/>
              </a:solidFill>
              <a:highlight>
                <a:srgbClr val="C0C0C0"/>
              </a:highlight>
            </a:rPr>
            <a:t>14,26,500</a:t>
          </a:r>
          <a:r>
            <a:rPr lang="en-IN" b="0" i="0" u="none" dirty="0"/>
            <a:t> users clicked on the ads to learn more and visit the website .</a:t>
          </a:r>
          <a:endParaRPr lang="en-IN" dirty="0"/>
        </a:p>
      </dgm:t>
    </dgm:pt>
    <dgm:pt modelId="{BFE67F10-3F2F-4E73-A961-7B9635B15CB0}" type="parTrans" cxnId="{2BB185CD-4784-47DE-8E7B-89BB78A50C03}">
      <dgm:prSet/>
      <dgm:spPr/>
      <dgm:t>
        <a:bodyPr/>
        <a:lstStyle/>
        <a:p>
          <a:endParaRPr lang="en-IN"/>
        </a:p>
      </dgm:t>
    </dgm:pt>
    <dgm:pt modelId="{AF897956-DA87-4D8C-9B7B-888C8D571D54}" type="sibTrans" cxnId="{2BB185CD-4784-47DE-8E7B-89BB78A50C03}">
      <dgm:prSet/>
      <dgm:spPr/>
      <dgm:t>
        <a:bodyPr/>
        <a:lstStyle/>
        <a:p>
          <a:endParaRPr lang="en-IN"/>
        </a:p>
      </dgm:t>
    </dgm:pt>
    <dgm:pt modelId="{C0FA4B65-FE26-47B5-9E9A-DC089E7C83DB}">
      <dgm:prSet phldrT="[Text]" phldr="0" custT="1"/>
      <dgm:spPr/>
      <dgm:t>
        <a:bodyPr/>
        <a:lstStyle/>
        <a:p>
          <a:r>
            <a:rPr lang="en-US" sz="2100" kern="1200" dirty="0"/>
            <a:t>A total of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1,26,480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users completed a desired action such as making a purchase or signing up . </a:t>
          </a:r>
          <a:endParaRPr lang="en-IN" sz="2100" kern="1200" dirty="0"/>
        </a:p>
      </dgm:t>
    </dgm:pt>
    <dgm:pt modelId="{4CD1F4C9-AEE5-4756-875E-FBD459C4D256}" type="parTrans" cxnId="{8CEEFA08-6B03-4116-A0D7-616D07A45F8A}">
      <dgm:prSet/>
      <dgm:spPr/>
      <dgm:t>
        <a:bodyPr/>
        <a:lstStyle/>
        <a:p>
          <a:endParaRPr lang="en-IN"/>
        </a:p>
      </dgm:t>
    </dgm:pt>
    <dgm:pt modelId="{8FC40093-64A0-4DCC-9011-ECDC5C7EC106}" type="sibTrans" cxnId="{8CEEFA08-6B03-4116-A0D7-616D07A45F8A}">
      <dgm:prSet/>
      <dgm:spPr/>
      <dgm:t>
        <a:bodyPr/>
        <a:lstStyle/>
        <a:p>
          <a:endParaRPr lang="en-IN"/>
        </a:p>
      </dgm:t>
    </dgm:pt>
    <dgm:pt modelId="{A41DF0B9-ED42-47C0-8E42-7CE479F16E27}">
      <dgm:prSet phldrT="[Text]" phldr="0" custT="1"/>
      <dgm:spPr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3820" tIns="41910" rIns="83820" bIns="41910" numCol="1" spcCol="1270" anchor="ctr" anchorCtr="0"/>
        <a:lstStyle/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 </a:t>
          </a:r>
        </a:p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CONVERSIONS</a:t>
          </a:r>
          <a:endParaRPr lang="en-IN" sz="22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5EE55F83-807D-41A0-A735-B8F9F2CDE44D}" type="sibTrans" cxnId="{6CF98B3D-D08F-42E5-8121-B836E8793A7C}">
      <dgm:prSet/>
      <dgm:spPr/>
      <dgm:t>
        <a:bodyPr/>
        <a:lstStyle/>
        <a:p>
          <a:endParaRPr lang="en-IN"/>
        </a:p>
      </dgm:t>
    </dgm:pt>
    <dgm:pt modelId="{2496AEEA-B876-4CD8-8011-0EDEE58E2876}" type="parTrans" cxnId="{6CF98B3D-D08F-42E5-8121-B836E8793A7C}">
      <dgm:prSet/>
      <dgm:spPr/>
      <dgm:t>
        <a:bodyPr/>
        <a:lstStyle/>
        <a:p>
          <a:endParaRPr lang="en-IN"/>
        </a:p>
      </dgm:t>
    </dgm:pt>
    <dgm:pt modelId="{2051FD44-1089-4CEC-B84D-9871A2FAA9B1}" type="pres">
      <dgm:prSet presAssocID="{FDD62D7E-B513-4343-ACAE-2C9C2BC88AD0}" presName="Name0" presStyleCnt="0">
        <dgm:presLayoutVars>
          <dgm:dir/>
          <dgm:animLvl val="lvl"/>
          <dgm:resizeHandles val="exact"/>
        </dgm:presLayoutVars>
      </dgm:prSet>
      <dgm:spPr/>
    </dgm:pt>
    <dgm:pt modelId="{B89ABACC-DB25-4561-991B-CE882275BC19}" type="pres">
      <dgm:prSet presAssocID="{3BA2C89B-0FF1-4B03-891E-B706FF5CD4BA}" presName="linNode" presStyleCnt="0"/>
      <dgm:spPr/>
    </dgm:pt>
    <dgm:pt modelId="{367827CE-9012-48EA-BEE6-EAB6DD706664}" type="pres">
      <dgm:prSet presAssocID="{3BA2C89B-0FF1-4B03-891E-B706FF5CD4BA}" presName="parentText" presStyleLbl="node1" presStyleIdx="0" presStyleCnt="6" custScaleY="100001">
        <dgm:presLayoutVars>
          <dgm:chMax val="1"/>
          <dgm:bulletEnabled val="1"/>
        </dgm:presLayoutVars>
      </dgm:prSet>
      <dgm:spPr/>
    </dgm:pt>
    <dgm:pt modelId="{773CD8B0-F633-4346-B8C8-7F5859F5CBD3}" type="pres">
      <dgm:prSet presAssocID="{3BA2C89B-0FF1-4B03-891E-B706FF5CD4BA}" presName="descendantText" presStyleLbl="alignAccFollowNode1" presStyleIdx="0" presStyleCnt="6">
        <dgm:presLayoutVars>
          <dgm:bulletEnabled val="1"/>
        </dgm:presLayoutVars>
      </dgm:prSet>
      <dgm:spPr>
        <a:prstGeom prst="flowChartAlternateProcess">
          <a:avLst/>
        </a:prstGeom>
      </dgm:spPr>
    </dgm:pt>
    <dgm:pt modelId="{AF084A08-D97D-4146-8D9A-44C2BF4AE3E8}" type="pres">
      <dgm:prSet presAssocID="{EA1E2E86-172A-4461-BA38-AF96E24EA951}" presName="sp" presStyleCnt="0"/>
      <dgm:spPr/>
    </dgm:pt>
    <dgm:pt modelId="{0DC98423-C445-4369-B3C1-7C69989203A3}" type="pres">
      <dgm:prSet presAssocID="{0FDB356C-941A-46A1-82CB-D43FC8BB26F9}" presName="linNode" presStyleCnt="0"/>
      <dgm:spPr/>
    </dgm:pt>
    <dgm:pt modelId="{6D08D6F8-30C7-4DAB-951F-D586148482E8}" type="pres">
      <dgm:prSet presAssocID="{0FDB356C-941A-46A1-82CB-D43FC8BB26F9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8650D40-624D-4B78-86B1-4BE784497C07}" type="pres">
      <dgm:prSet presAssocID="{0FDB356C-941A-46A1-82CB-D43FC8BB26F9}" presName="descendantText" presStyleLbl="alignAccFollowNode1" presStyleIdx="1" presStyleCnt="6">
        <dgm:presLayoutVars>
          <dgm:bulletEnabled val="1"/>
        </dgm:presLayoutVars>
      </dgm:prSet>
      <dgm:spPr/>
    </dgm:pt>
    <dgm:pt modelId="{02490B39-1A92-4177-A2FC-41664F9681C2}" type="pres">
      <dgm:prSet presAssocID="{632B8231-D805-483C-B0EF-DD23477403D8}" presName="sp" presStyleCnt="0"/>
      <dgm:spPr/>
    </dgm:pt>
    <dgm:pt modelId="{1C4CC111-D1A7-440D-BE61-B7BF2C9148D3}" type="pres">
      <dgm:prSet presAssocID="{3122ED92-7784-4252-AFA4-853C59576D6B}" presName="linNode" presStyleCnt="0"/>
      <dgm:spPr/>
    </dgm:pt>
    <dgm:pt modelId="{D6971A58-2DF2-48E4-A8E2-46E2907ECE4F}" type="pres">
      <dgm:prSet presAssocID="{3122ED92-7784-4252-AFA4-853C59576D6B}" presName="parentText" presStyleLbl="node1" presStyleIdx="2" presStyleCnt="6">
        <dgm:presLayoutVars>
          <dgm:chMax val="1"/>
          <dgm:bulletEnabled val="1"/>
        </dgm:presLayoutVars>
      </dgm:prSet>
      <dgm:spPr>
        <a:xfrm>
          <a:off x="0" y="1975963"/>
          <a:ext cx="4022750" cy="940163"/>
        </a:xfrm>
        <a:prstGeom prst="roundRect">
          <a:avLst/>
        </a:prstGeom>
      </dgm:spPr>
    </dgm:pt>
    <dgm:pt modelId="{F2F8197F-6C3A-417B-B7E3-EDF8328A484B}" type="pres">
      <dgm:prSet presAssocID="{3122ED92-7784-4252-AFA4-853C59576D6B}" presName="descendantText" presStyleLbl="alignAccFollowNode1" presStyleIdx="2" presStyleCnt="6">
        <dgm:presLayoutVars>
          <dgm:bulletEnabled val="1"/>
        </dgm:presLayoutVars>
      </dgm:prSet>
      <dgm:spPr/>
    </dgm:pt>
    <dgm:pt modelId="{1590167C-2227-40CD-A2AE-1B22858275CD}" type="pres">
      <dgm:prSet presAssocID="{4767EE4D-83F8-416B-B037-2D4E1A0010C6}" presName="sp" presStyleCnt="0"/>
      <dgm:spPr/>
    </dgm:pt>
    <dgm:pt modelId="{C85C6955-5B64-4ABB-80FD-8080BE3E2BDE}" type="pres">
      <dgm:prSet presAssocID="{3F63C36F-202F-433E-A1CD-558422645BC3}" presName="linNode" presStyleCnt="0"/>
      <dgm:spPr/>
    </dgm:pt>
    <dgm:pt modelId="{7A84050A-8194-4AA9-AC32-8CEE735B5028}" type="pres">
      <dgm:prSet presAssocID="{3F63C36F-202F-433E-A1CD-558422645BC3}" presName="parentText" presStyleLbl="node1" presStyleIdx="3" presStyleCnt="6">
        <dgm:presLayoutVars>
          <dgm:chMax val="1"/>
          <dgm:bulletEnabled val="1"/>
        </dgm:presLayoutVars>
      </dgm:prSet>
      <dgm:spPr>
        <a:xfrm>
          <a:off x="0" y="2963135"/>
          <a:ext cx="4022750" cy="940163"/>
        </a:xfrm>
        <a:prstGeom prst="roundRect">
          <a:avLst/>
        </a:prstGeom>
      </dgm:spPr>
    </dgm:pt>
    <dgm:pt modelId="{71D77CAC-13A8-403B-B0AA-2D53464DCA58}" type="pres">
      <dgm:prSet presAssocID="{3F63C36F-202F-433E-A1CD-558422645BC3}" presName="descendantText" presStyleLbl="alignAccFollowNode1" presStyleIdx="3" presStyleCnt="6">
        <dgm:presLayoutVars>
          <dgm:bulletEnabled val="1"/>
        </dgm:presLayoutVars>
      </dgm:prSet>
      <dgm:spPr/>
    </dgm:pt>
    <dgm:pt modelId="{D22B7C05-0C10-4A3A-97BE-DB5D33CA6CD1}" type="pres">
      <dgm:prSet presAssocID="{944A65FC-E69E-478E-93B1-89669154C7A8}" presName="sp" presStyleCnt="0"/>
      <dgm:spPr/>
    </dgm:pt>
    <dgm:pt modelId="{A6718313-5179-49CE-8B0B-C43BA20DE4B2}" type="pres">
      <dgm:prSet presAssocID="{DD9C233D-DA30-47FF-A083-0DD032C15BDC}" presName="linNode" presStyleCnt="0"/>
      <dgm:spPr/>
    </dgm:pt>
    <dgm:pt modelId="{87B40677-936D-4EA1-B12D-A188979B6846}" type="pres">
      <dgm:prSet presAssocID="{DD9C233D-DA30-47FF-A083-0DD032C15BDC}" presName="parentText" presStyleLbl="node1" presStyleIdx="4" presStyleCnt="6">
        <dgm:presLayoutVars>
          <dgm:chMax val="1"/>
          <dgm:bulletEnabled val="1"/>
        </dgm:presLayoutVars>
      </dgm:prSet>
      <dgm:spPr>
        <a:xfrm>
          <a:off x="0" y="3950307"/>
          <a:ext cx="4022750" cy="940163"/>
        </a:xfrm>
        <a:prstGeom prst="roundRect">
          <a:avLst/>
        </a:prstGeom>
      </dgm:spPr>
    </dgm:pt>
    <dgm:pt modelId="{B9114F61-B263-4FF8-895E-99E4F68105E9}" type="pres">
      <dgm:prSet presAssocID="{DD9C233D-DA30-47FF-A083-0DD032C15BDC}" presName="descendantText" presStyleLbl="alignAccFollowNode1" presStyleIdx="4" presStyleCnt="6">
        <dgm:presLayoutVars>
          <dgm:bulletEnabled val="1"/>
        </dgm:presLayoutVars>
      </dgm:prSet>
      <dgm:spPr/>
    </dgm:pt>
    <dgm:pt modelId="{E529749B-6238-4C2C-B01C-0518B9E6DCC7}" type="pres">
      <dgm:prSet presAssocID="{FAE01418-D346-433E-A732-A3EA2BFF1FF1}" presName="sp" presStyleCnt="0"/>
      <dgm:spPr/>
    </dgm:pt>
    <dgm:pt modelId="{043C8147-820F-43E9-AB68-B99F3FFA06F9}" type="pres">
      <dgm:prSet presAssocID="{A41DF0B9-ED42-47C0-8E42-7CE479F16E27}" presName="linNode" presStyleCnt="0"/>
      <dgm:spPr/>
    </dgm:pt>
    <dgm:pt modelId="{53EC6191-27CE-4054-8EDC-0ED818554174}" type="pres">
      <dgm:prSet presAssocID="{A41DF0B9-ED42-47C0-8E42-7CE479F16E27}" presName="parentText" presStyleLbl="node1" presStyleIdx="5" presStyleCnt="6">
        <dgm:presLayoutVars>
          <dgm:chMax val="1"/>
          <dgm:bulletEnabled val="1"/>
        </dgm:presLayoutVars>
      </dgm:prSet>
      <dgm:spPr>
        <a:xfrm>
          <a:off x="0" y="4937480"/>
          <a:ext cx="4022750" cy="940163"/>
        </a:xfrm>
        <a:prstGeom prst="roundRect">
          <a:avLst/>
        </a:prstGeom>
      </dgm:spPr>
    </dgm:pt>
    <dgm:pt modelId="{84495E71-D8D1-46B1-9AB9-4FDB962846C8}" type="pres">
      <dgm:prSet presAssocID="{A41DF0B9-ED42-47C0-8E42-7CE479F16E27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B3107901-AF00-4FE8-97F8-933AACF357DD}" type="presOf" srcId="{3F63C36F-202F-433E-A1CD-558422645BC3}" destId="{7A84050A-8194-4AA9-AC32-8CEE735B5028}" srcOrd="0" destOrd="0" presId="urn:microsoft.com/office/officeart/2005/8/layout/vList5"/>
    <dgm:cxn modelId="{FE280F03-3A62-4888-BA6D-1E5B9AA32670}" type="presOf" srcId="{FDD62D7E-B513-4343-ACAE-2C9C2BC88AD0}" destId="{2051FD44-1089-4CEC-B84D-9871A2FAA9B1}" srcOrd="0" destOrd="0" presId="urn:microsoft.com/office/officeart/2005/8/layout/vList5"/>
    <dgm:cxn modelId="{8CEEFA08-6B03-4116-A0D7-616D07A45F8A}" srcId="{A41DF0B9-ED42-47C0-8E42-7CE479F16E27}" destId="{C0FA4B65-FE26-47B5-9E9A-DC089E7C83DB}" srcOrd="0" destOrd="0" parTransId="{4CD1F4C9-AEE5-4756-875E-FBD459C4D256}" sibTransId="{8FC40093-64A0-4DCC-9011-ECDC5C7EC106}"/>
    <dgm:cxn modelId="{5E854211-FE5F-4846-BD24-3B6305782EAA}" type="presOf" srcId="{3122ED92-7784-4252-AFA4-853C59576D6B}" destId="{D6971A58-2DF2-48E4-A8E2-46E2907ECE4F}" srcOrd="0" destOrd="0" presId="urn:microsoft.com/office/officeart/2005/8/layout/vList5"/>
    <dgm:cxn modelId="{025FD329-A4B3-48B3-8B21-CAE91703DA5E}" type="presOf" srcId="{C0FA4B65-FE26-47B5-9E9A-DC089E7C83DB}" destId="{84495E71-D8D1-46B1-9AB9-4FDB962846C8}" srcOrd="0" destOrd="0" presId="urn:microsoft.com/office/officeart/2005/8/layout/vList5"/>
    <dgm:cxn modelId="{A76BA72A-2A5E-4D97-BA17-AC7854809604}" type="presOf" srcId="{EB1EB854-A07A-421A-9D02-5B3C38C51EC4}" destId="{F2F8197F-6C3A-417B-B7E3-EDF8328A484B}" srcOrd="0" destOrd="0" presId="urn:microsoft.com/office/officeart/2005/8/layout/vList5"/>
    <dgm:cxn modelId="{6CF98B3D-D08F-42E5-8121-B836E8793A7C}" srcId="{FDD62D7E-B513-4343-ACAE-2C9C2BC88AD0}" destId="{A41DF0B9-ED42-47C0-8E42-7CE479F16E27}" srcOrd="5" destOrd="0" parTransId="{2496AEEA-B876-4CD8-8011-0EDEE58E2876}" sibTransId="{5EE55F83-807D-41A0-A735-B8F9F2CDE44D}"/>
    <dgm:cxn modelId="{1B824061-362E-4F06-84C1-0D4E5257C52A}" type="presOf" srcId="{DD9C233D-DA30-47FF-A083-0DD032C15BDC}" destId="{87B40677-936D-4EA1-B12D-A188979B6846}" srcOrd="0" destOrd="0" presId="urn:microsoft.com/office/officeart/2005/8/layout/vList5"/>
    <dgm:cxn modelId="{D8DB2244-E2AF-4317-AB3A-B45C8CFF7D83}" srcId="{0FDB356C-941A-46A1-82CB-D43FC8BB26F9}" destId="{E4DC568C-6F4D-40AB-A1AB-55B2B52EEB98}" srcOrd="0" destOrd="0" parTransId="{8D6697F0-2194-4921-A74D-D45054B83792}" sibTransId="{AB44A699-11AB-44F4-93F5-860669C40D5A}"/>
    <dgm:cxn modelId="{B9961169-D0F4-412B-AFEC-C4291B2EF6FC}" srcId="{3122ED92-7784-4252-AFA4-853C59576D6B}" destId="{EB1EB854-A07A-421A-9D02-5B3C38C51EC4}" srcOrd="0" destOrd="0" parTransId="{77AAC67E-C375-4C0A-9931-36D04E4B12CF}" sibTransId="{301089EF-1595-4F4A-8E7B-D2F7FBFABF80}"/>
    <dgm:cxn modelId="{42353F49-AA73-4899-9DE8-6B89F0588BEA}" srcId="{FDD62D7E-B513-4343-ACAE-2C9C2BC88AD0}" destId="{3BA2C89B-0FF1-4B03-891E-B706FF5CD4BA}" srcOrd="0" destOrd="0" parTransId="{6F7F217A-B21B-45B2-A95C-42299775F3C0}" sibTransId="{EA1E2E86-172A-4461-BA38-AF96E24EA951}"/>
    <dgm:cxn modelId="{45B4636C-9C50-4A05-9D6A-90AF7B10C197}" type="presOf" srcId="{0FDB356C-941A-46A1-82CB-D43FC8BB26F9}" destId="{6D08D6F8-30C7-4DAB-951F-D586148482E8}" srcOrd="0" destOrd="0" presId="urn:microsoft.com/office/officeart/2005/8/layout/vList5"/>
    <dgm:cxn modelId="{6FDB7856-7F58-4A36-B811-F0FD98AF053F}" srcId="{3BA2C89B-0FF1-4B03-891E-B706FF5CD4BA}" destId="{2F10A301-2DA3-451A-BC51-B3D500BE25E0}" srcOrd="0" destOrd="0" parTransId="{001668A8-39D7-49D2-AFC7-7EB6067E031C}" sibTransId="{CE438F09-0ABA-44B7-A2F2-261C2445C220}"/>
    <dgm:cxn modelId="{631E1D7E-40AD-4CFF-B257-811536A76BA2}" type="presOf" srcId="{A41DF0B9-ED42-47C0-8E42-7CE479F16E27}" destId="{53EC6191-27CE-4054-8EDC-0ED818554174}" srcOrd="0" destOrd="0" presId="urn:microsoft.com/office/officeart/2005/8/layout/vList5"/>
    <dgm:cxn modelId="{E2EAF98A-2526-4EAE-9790-1BD956B853E7}" type="presOf" srcId="{3BA2C89B-0FF1-4B03-891E-B706FF5CD4BA}" destId="{367827CE-9012-48EA-BEE6-EAB6DD706664}" srcOrd="0" destOrd="0" presId="urn:microsoft.com/office/officeart/2005/8/layout/vList5"/>
    <dgm:cxn modelId="{8B10798C-14AA-4031-BF30-1EFA93A41F0D}" srcId="{FDD62D7E-B513-4343-ACAE-2C9C2BC88AD0}" destId="{DD9C233D-DA30-47FF-A083-0DD032C15BDC}" srcOrd="4" destOrd="0" parTransId="{C6730C6F-8470-4366-B15C-663034CFD330}" sibTransId="{FAE01418-D346-433E-A732-A3EA2BFF1FF1}"/>
    <dgm:cxn modelId="{DBB318B0-6A8C-43B8-ABD0-0487D34897F8}" type="presOf" srcId="{E4DC568C-6F4D-40AB-A1AB-55B2B52EEB98}" destId="{B8650D40-624D-4B78-86B1-4BE784497C07}" srcOrd="0" destOrd="0" presId="urn:microsoft.com/office/officeart/2005/8/layout/vList5"/>
    <dgm:cxn modelId="{D439BBB9-34C8-4B9C-81AF-6F187DB971DE}" srcId="{FDD62D7E-B513-4343-ACAE-2C9C2BC88AD0}" destId="{0FDB356C-941A-46A1-82CB-D43FC8BB26F9}" srcOrd="1" destOrd="0" parTransId="{04A06CD8-B15D-476B-ACBB-1C2FAC57DE73}" sibTransId="{632B8231-D805-483C-B0EF-DD23477403D8}"/>
    <dgm:cxn modelId="{1819D6BE-394F-4805-B1E1-BACE6F9B325E}" type="presOf" srcId="{E1B97495-7FBB-4E17-9657-3E35F5A64B6C}" destId="{B9114F61-B263-4FF8-895E-99E4F68105E9}" srcOrd="0" destOrd="0" presId="urn:microsoft.com/office/officeart/2005/8/layout/vList5"/>
    <dgm:cxn modelId="{2BB185CD-4784-47DE-8E7B-89BB78A50C03}" srcId="{DD9C233D-DA30-47FF-A083-0DD032C15BDC}" destId="{E1B97495-7FBB-4E17-9657-3E35F5A64B6C}" srcOrd="0" destOrd="0" parTransId="{BFE67F10-3F2F-4E73-A961-7B9635B15CB0}" sibTransId="{AF897956-DA87-4D8C-9B7B-888C8D571D54}"/>
    <dgm:cxn modelId="{EC59B9D2-7058-4ED8-B479-D0E4B56C6156}" srcId="{FDD62D7E-B513-4343-ACAE-2C9C2BC88AD0}" destId="{3F63C36F-202F-433E-A1CD-558422645BC3}" srcOrd="3" destOrd="0" parTransId="{47A820CD-8C2C-4F4A-AA38-A4BD5D8D6787}" sibTransId="{944A65FC-E69E-478E-93B1-89669154C7A8}"/>
    <dgm:cxn modelId="{5191CBD2-A885-4993-8244-AA77C11FA815}" srcId="{FDD62D7E-B513-4343-ACAE-2C9C2BC88AD0}" destId="{3122ED92-7784-4252-AFA4-853C59576D6B}" srcOrd="2" destOrd="0" parTransId="{4B99C124-FA90-4696-8A7A-9FCA5323D935}" sibTransId="{4767EE4D-83F8-416B-B037-2D4E1A0010C6}"/>
    <dgm:cxn modelId="{F4C32BDE-CC4A-414B-8C8D-BC51AF5B1D3D}" type="presOf" srcId="{2F10A301-2DA3-451A-BC51-B3D500BE25E0}" destId="{773CD8B0-F633-4346-B8C8-7F5859F5CBD3}" srcOrd="0" destOrd="0" presId="urn:microsoft.com/office/officeart/2005/8/layout/vList5"/>
    <dgm:cxn modelId="{1BD4E7E8-5504-48F8-B10F-0A659331295D}" type="presOf" srcId="{551E930D-65D1-48B9-A436-9C1013D0FEF2}" destId="{71D77CAC-13A8-403B-B0AA-2D53464DCA58}" srcOrd="0" destOrd="0" presId="urn:microsoft.com/office/officeart/2005/8/layout/vList5"/>
    <dgm:cxn modelId="{8F68F5F0-47D0-4B7D-BF33-BE3ECD2FD632}" srcId="{3F63C36F-202F-433E-A1CD-558422645BC3}" destId="{551E930D-65D1-48B9-A436-9C1013D0FEF2}" srcOrd="0" destOrd="0" parTransId="{274037B1-5EA2-400A-998B-9D72F517104D}" sibTransId="{C78E70D4-1180-43D4-9B34-33E98370832C}"/>
    <dgm:cxn modelId="{F68DBBA8-74C6-4FE2-BD48-94E68EA5592E}" type="presParOf" srcId="{2051FD44-1089-4CEC-B84D-9871A2FAA9B1}" destId="{B89ABACC-DB25-4561-991B-CE882275BC19}" srcOrd="0" destOrd="0" presId="urn:microsoft.com/office/officeart/2005/8/layout/vList5"/>
    <dgm:cxn modelId="{25C5CDA5-FBAC-49FA-B7F3-752F4A92123E}" type="presParOf" srcId="{B89ABACC-DB25-4561-991B-CE882275BC19}" destId="{367827CE-9012-48EA-BEE6-EAB6DD706664}" srcOrd="0" destOrd="0" presId="urn:microsoft.com/office/officeart/2005/8/layout/vList5"/>
    <dgm:cxn modelId="{008D7CC3-5BA1-4A61-82CB-E9D6EE324C09}" type="presParOf" srcId="{B89ABACC-DB25-4561-991B-CE882275BC19}" destId="{773CD8B0-F633-4346-B8C8-7F5859F5CBD3}" srcOrd="1" destOrd="0" presId="urn:microsoft.com/office/officeart/2005/8/layout/vList5"/>
    <dgm:cxn modelId="{2C6EF452-A60E-4545-9743-A0330266EE0D}" type="presParOf" srcId="{2051FD44-1089-4CEC-B84D-9871A2FAA9B1}" destId="{AF084A08-D97D-4146-8D9A-44C2BF4AE3E8}" srcOrd="1" destOrd="0" presId="urn:microsoft.com/office/officeart/2005/8/layout/vList5"/>
    <dgm:cxn modelId="{736073F4-AFD7-4C74-A581-4C434D011E64}" type="presParOf" srcId="{2051FD44-1089-4CEC-B84D-9871A2FAA9B1}" destId="{0DC98423-C445-4369-B3C1-7C69989203A3}" srcOrd="2" destOrd="0" presId="urn:microsoft.com/office/officeart/2005/8/layout/vList5"/>
    <dgm:cxn modelId="{EF9B3508-FEA1-4CDB-9DC7-1AE528131177}" type="presParOf" srcId="{0DC98423-C445-4369-B3C1-7C69989203A3}" destId="{6D08D6F8-30C7-4DAB-951F-D586148482E8}" srcOrd="0" destOrd="0" presId="urn:microsoft.com/office/officeart/2005/8/layout/vList5"/>
    <dgm:cxn modelId="{512915A0-A1A6-4AC4-9E89-4F6B3F0B6AB9}" type="presParOf" srcId="{0DC98423-C445-4369-B3C1-7C69989203A3}" destId="{B8650D40-624D-4B78-86B1-4BE784497C07}" srcOrd="1" destOrd="0" presId="urn:microsoft.com/office/officeart/2005/8/layout/vList5"/>
    <dgm:cxn modelId="{AFA1FB7D-AAED-4C3E-981E-54644A584053}" type="presParOf" srcId="{2051FD44-1089-4CEC-B84D-9871A2FAA9B1}" destId="{02490B39-1A92-4177-A2FC-41664F9681C2}" srcOrd="3" destOrd="0" presId="urn:microsoft.com/office/officeart/2005/8/layout/vList5"/>
    <dgm:cxn modelId="{EE303A0B-E88E-4CAE-93B3-2A2CD0A4A3A9}" type="presParOf" srcId="{2051FD44-1089-4CEC-B84D-9871A2FAA9B1}" destId="{1C4CC111-D1A7-440D-BE61-B7BF2C9148D3}" srcOrd="4" destOrd="0" presId="urn:microsoft.com/office/officeart/2005/8/layout/vList5"/>
    <dgm:cxn modelId="{2FA18C75-47AC-4C1D-8F1C-1E0CA9C822A4}" type="presParOf" srcId="{1C4CC111-D1A7-440D-BE61-B7BF2C9148D3}" destId="{D6971A58-2DF2-48E4-A8E2-46E2907ECE4F}" srcOrd="0" destOrd="0" presId="urn:microsoft.com/office/officeart/2005/8/layout/vList5"/>
    <dgm:cxn modelId="{885D5113-CDF9-4521-A277-748EEDD124C6}" type="presParOf" srcId="{1C4CC111-D1A7-440D-BE61-B7BF2C9148D3}" destId="{F2F8197F-6C3A-417B-B7E3-EDF8328A484B}" srcOrd="1" destOrd="0" presId="urn:microsoft.com/office/officeart/2005/8/layout/vList5"/>
    <dgm:cxn modelId="{A16527B2-9717-498C-9D83-4D8304B573B8}" type="presParOf" srcId="{2051FD44-1089-4CEC-B84D-9871A2FAA9B1}" destId="{1590167C-2227-40CD-A2AE-1B22858275CD}" srcOrd="5" destOrd="0" presId="urn:microsoft.com/office/officeart/2005/8/layout/vList5"/>
    <dgm:cxn modelId="{A14D31AA-0369-46B3-8EF6-AA1B461D0763}" type="presParOf" srcId="{2051FD44-1089-4CEC-B84D-9871A2FAA9B1}" destId="{C85C6955-5B64-4ABB-80FD-8080BE3E2BDE}" srcOrd="6" destOrd="0" presId="urn:microsoft.com/office/officeart/2005/8/layout/vList5"/>
    <dgm:cxn modelId="{C21F9DD8-A8B6-4E4E-9966-827676EEC7C2}" type="presParOf" srcId="{C85C6955-5B64-4ABB-80FD-8080BE3E2BDE}" destId="{7A84050A-8194-4AA9-AC32-8CEE735B5028}" srcOrd="0" destOrd="0" presId="urn:microsoft.com/office/officeart/2005/8/layout/vList5"/>
    <dgm:cxn modelId="{BB3280A6-FE57-47A5-B6AD-C5B49C1559EA}" type="presParOf" srcId="{C85C6955-5B64-4ABB-80FD-8080BE3E2BDE}" destId="{71D77CAC-13A8-403B-B0AA-2D53464DCA58}" srcOrd="1" destOrd="0" presId="urn:microsoft.com/office/officeart/2005/8/layout/vList5"/>
    <dgm:cxn modelId="{625F1D0C-5758-489C-9CCB-D5FDA960FB2B}" type="presParOf" srcId="{2051FD44-1089-4CEC-B84D-9871A2FAA9B1}" destId="{D22B7C05-0C10-4A3A-97BE-DB5D33CA6CD1}" srcOrd="7" destOrd="0" presId="urn:microsoft.com/office/officeart/2005/8/layout/vList5"/>
    <dgm:cxn modelId="{3C6368B4-0204-42A5-9232-B431155317D7}" type="presParOf" srcId="{2051FD44-1089-4CEC-B84D-9871A2FAA9B1}" destId="{A6718313-5179-49CE-8B0B-C43BA20DE4B2}" srcOrd="8" destOrd="0" presId="urn:microsoft.com/office/officeart/2005/8/layout/vList5"/>
    <dgm:cxn modelId="{7E5EEFD1-8B27-4572-A0A1-E0B3DB7BDB9A}" type="presParOf" srcId="{A6718313-5179-49CE-8B0B-C43BA20DE4B2}" destId="{87B40677-936D-4EA1-B12D-A188979B6846}" srcOrd="0" destOrd="0" presId="urn:microsoft.com/office/officeart/2005/8/layout/vList5"/>
    <dgm:cxn modelId="{0A1A7983-6295-4BA3-A0FA-B449105A0FC8}" type="presParOf" srcId="{A6718313-5179-49CE-8B0B-C43BA20DE4B2}" destId="{B9114F61-B263-4FF8-895E-99E4F68105E9}" srcOrd="1" destOrd="0" presId="urn:microsoft.com/office/officeart/2005/8/layout/vList5"/>
    <dgm:cxn modelId="{044AEF3A-2D2D-4367-B30D-4B1762F121F3}" type="presParOf" srcId="{2051FD44-1089-4CEC-B84D-9871A2FAA9B1}" destId="{E529749B-6238-4C2C-B01C-0518B9E6DCC7}" srcOrd="9" destOrd="0" presId="urn:microsoft.com/office/officeart/2005/8/layout/vList5"/>
    <dgm:cxn modelId="{90312C76-6159-4775-9FFB-5C243403702D}" type="presParOf" srcId="{2051FD44-1089-4CEC-B84D-9871A2FAA9B1}" destId="{043C8147-820F-43E9-AB68-B99F3FFA06F9}" srcOrd="10" destOrd="0" presId="urn:microsoft.com/office/officeart/2005/8/layout/vList5"/>
    <dgm:cxn modelId="{7CA5E61B-0C57-4CD1-B628-C50F7F527B23}" type="presParOf" srcId="{043C8147-820F-43E9-AB68-B99F3FFA06F9}" destId="{53EC6191-27CE-4054-8EDC-0ED818554174}" srcOrd="0" destOrd="0" presId="urn:microsoft.com/office/officeart/2005/8/layout/vList5"/>
    <dgm:cxn modelId="{8BA9F3D3-133C-4DBA-AFD3-432CA96592A7}" type="presParOf" srcId="{043C8147-820F-43E9-AB68-B99F3FFA06F9}" destId="{84495E71-D8D1-46B1-9AB9-4FDB962846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CD8B0-F633-4346-B8C8-7F5859F5CBD3}">
      <dsp:nvSpPr>
        <dsp:cNvPr id="0" name=""/>
        <dsp:cNvSpPr/>
      </dsp:nvSpPr>
      <dsp:spPr>
        <a:xfrm rot="5400000">
          <a:off x="7207628" y="-3097100"/>
          <a:ext cx="752131" cy="7137594"/>
        </a:xfrm>
        <a:prstGeom prst="flowChartAlternateProcess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We spent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53,91,500</a:t>
          </a:r>
          <a:r>
            <a:rPr lang="en-IN" sz="2100" b="0" i="0" u="none" kern="1200" dirty="0"/>
            <a:t> on digital advertising across all platforms during the campaign period .</a:t>
          </a:r>
          <a:endParaRPr lang="en-IN" sz="2100" kern="1200" dirty="0"/>
        </a:p>
      </dsp:txBody>
      <dsp:txXfrm rot="-5400000">
        <a:off x="4051612" y="132346"/>
        <a:ext cx="7064164" cy="678701"/>
      </dsp:txXfrm>
    </dsp:sp>
    <dsp:sp modelId="{367827CE-9012-48EA-BEE6-EAB6DD706664}">
      <dsp:nvSpPr>
        <dsp:cNvPr id="0" name=""/>
        <dsp:cNvSpPr/>
      </dsp:nvSpPr>
      <dsp:spPr>
        <a:xfrm>
          <a:off x="0" y="1610"/>
          <a:ext cx="4014897" cy="940173"/>
        </a:xfrm>
        <a:prstGeom prst="roundRect">
          <a:avLst/>
        </a:prstGeom>
        <a:pattFill prst="sphere">
          <a:fgClr>
            <a:schemeClr val="accent1">
              <a:hueOff val="0"/>
              <a:satOff val="0"/>
              <a:lumOff val="0"/>
            </a:schemeClr>
          </a:fgClr>
          <a:bgClr>
            <a:srgbClr val="00B0F0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TOTAL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  COST	</a:t>
          </a:r>
        </a:p>
      </dsp:txBody>
      <dsp:txXfrm>
        <a:off x="45895" y="47505"/>
        <a:ext cx="3923107" cy="848383"/>
      </dsp:txXfrm>
    </dsp:sp>
    <dsp:sp modelId="{B8650D40-624D-4B78-86B1-4BE784497C07}">
      <dsp:nvSpPr>
        <dsp:cNvPr id="0" name=""/>
        <dsp:cNvSpPr/>
      </dsp:nvSpPr>
      <dsp:spPr>
        <a:xfrm rot="5400000">
          <a:off x="7222462" y="-2116904"/>
          <a:ext cx="752131" cy="71515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 campaign generated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1,46,30,000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in total revenue from product sales .</a:t>
          </a:r>
          <a:endParaRPr lang="en-IN" sz="2100" kern="1200" dirty="0"/>
        </a:p>
      </dsp:txBody>
      <dsp:txXfrm rot="-5400000">
        <a:off x="4022750" y="1119524"/>
        <a:ext cx="7114839" cy="678699"/>
      </dsp:txXfrm>
    </dsp:sp>
    <dsp:sp modelId="{6D08D6F8-30C7-4DAB-951F-D586148482E8}">
      <dsp:nvSpPr>
        <dsp:cNvPr id="0" name=""/>
        <dsp:cNvSpPr/>
      </dsp:nvSpPr>
      <dsp:spPr>
        <a:xfrm>
          <a:off x="0" y="988791"/>
          <a:ext cx="4022750" cy="940163"/>
        </a:xfrm>
        <a:prstGeom prst="roundRect">
          <a:avLst/>
        </a:prstGeom>
        <a:pattFill prst="sphere">
          <a:fgClr>
            <a:schemeClr val="accent1">
              <a:hueOff val="0"/>
              <a:satOff val="0"/>
              <a:lumOff val="0"/>
            </a:schemeClr>
          </a:fgClr>
          <a:bgClr>
            <a:srgbClr val="00B0F0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TOTAL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REVENUE</a:t>
          </a:r>
        </a:p>
      </dsp:txBody>
      <dsp:txXfrm>
        <a:off x="45895" y="1034686"/>
        <a:ext cx="3930960" cy="848373"/>
      </dsp:txXfrm>
    </dsp:sp>
    <dsp:sp modelId="{F2F8197F-6C3A-417B-B7E3-EDF8328A484B}">
      <dsp:nvSpPr>
        <dsp:cNvPr id="0" name=""/>
        <dsp:cNvSpPr/>
      </dsp:nvSpPr>
      <dsp:spPr>
        <a:xfrm rot="5400000">
          <a:off x="7222462" y="-1129732"/>
          <a:ext cx="752131" cy="71515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Net profit amounted to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92,38,500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after subtracting advertising costs from total revenue .</a:t>
          </a:r>
          <a:endParaRPr lang="en-IN" sz="2100" kern="1200" dirty="0"/>
        </a:p>
      </dsp:txBody>
      <dsp:txXfrm rot="-5400000">
        <a:off x="4022750" y="2106696"/>
        <a:ext cx="7114839" cy="678699"/>
      </dsp:txXfrm>
    </dsp:sp>
    <dsp:sp modelId="{D6971A58-2DF2-48E4-A8E2-46E2907ECE4F}">
      <dsp:nvSpPr>
        <dsp:cNvPr id="0" name=""/>
        <dsp:cNvSpPr/>
      </dsp:nvSpPr>
      <dsp:spPr>
        <a:xfrm>
          <a:off x="0" y="1975963"/>
          <a:ext cx="4022750" cy="940163"/>
        </a:xfrm>
        <a:prstGeom prst="roundRect">
          <a:avLst/>
        </a:prstGeom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PROFIT</a:t>
          </a:r>
        </a:p>
      </dsp:txBody>
      <dsp:txXfrm>
        <a:off x="45895" y="2021858"/>
        <a:ext cx="3930960" cy="848373"/>
      </dsp:txXfrm>
    </dsp:sp>
    <dsp:sp modelId="{71D77CAC-13A8-403B-B0AA-2D53464DCA58}">
      <dsp:nvSpPr>
        <dsp:cNvPr id="0" name=""/>
        <dsp:cNvSpPr/>
      </dsp:nvSpPr>
      <dsp:spPr>
        <a:xfrm rot="5400000">
          <a:off x="7222462" y="-142560"/>
          <a:ext cx="752131" cy="71515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 ads were displayed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2,69,69,000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times to users across search engines and social media .</a:t>
          </a:r>
          <a:endParaRPr lang="en-IN" sz="2100" kern="1200" dirty="0"/>
        </a:p>
      </dsp:txBody>
      <dsp:txXfrm rot="-5400000">
        <a:off x="4022750" y="3093868"/>
        <a:ext cx="7114839" cy="678699"/>
      </dsp:txXfrm>
    </dsp:sp>
    <dsp:sp modelId="{7A84050A-8194-4AA9-AC32-8CEE735B5028}">
      <dsp:nvSpPr>
        <dsp:cNvPr id="0" name=""/>
        <dsp:cNvSpPr/>
      </dsp:nvSpPr>
      <dsp:spPr>
        <a:xfrm>
          <a:off x="0" y="2963135"/>
          <a:ext cx="4022750" cy="940163"/>
        </a:xfrm>
        <a:prstGeom prst="roundRect">
          <a:avLst/>
        </a:prstGeom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TOTAL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            IMPRESSIONS</a:t>
          </a:r>
          <a:endParaRPr lang="en-IN" sz="2200" b="1" kern="1200" dirty="0"/>
        </a:p>
      </dsp:txBody>
      <dsp:txXfrm>
        <a:off x="45895" y="3009030"/>
        <a:ext cx="3930960" cy="848373"/>
      </dsp:txXfrm>
    </dsp:sp>
    <dsp:sp modelId="{B9114F61-B263-4FF8-895E-99E4F68105E9}">
      <dsp:nvSpPr>
        <dsp:cNvPr id="0" name=""/>
        <dsp:cNvSpPr/>
      </dsp:nvSpPr>
      <dsp:spPr>
        <a:xfrm rot="5400000">
          <a:off x="7222462" y="844611"/>
          <a:ext cx="752131" cy="71515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Out of all impressions,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</a:rPr>
            <a:t>14,26,500</a:t>
          </a:r>
          <a:r>
            <a:rPr lang="en-IN" sz="2100" b="0" i="0" u="none" kern="1200" dirty="0"/>
            <a:t> users clicked on the ads to learn more and visit the website .</a:t>
          </a:r>
          <a:endParaRPr lang="en-IN" sz="2100" kern="1200" dirty="0"/>
        </a:p>
      </dsp:txBody>
      <dsp:txXfrm rot="-5400000">
        <a:off x="4022750" y="4081039"/>
        <a:ext cx="7114839" cy="678699"/>
      </dsp:txXfrm>
    </dsp:sp>
    <dsp:sp modelId="{87B40677-936D-4EA1-B12D-A188979B6846}">
      <dsp:nvSpPr>
        <dsp:cNvPr id="0" name=""/>
        <dsp:cNvSpPr/>
      </dsp:nvSpPr>
      <dsp:spPr>
        <a:xfrm>
          <a:off x="0" y="3950307"/>
          <a:ext cx="4022750" cy="940163"/>
        </a:xfrm>
        <a:prstGeom prst="roundRect">
          <a:avLst/>
        </a:prstGeom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CLICKS</a:t>
          </a:r>
          <a:endParaRPr lang="en-IN" sz="22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45895" y="3996202"/>
        <a:ext cx="3930960" cy="848373"/>
      </dsp:txXfrm>
    </dsp:sp>
    <dsp:sp modelId="{84495E71-D8D1-46B1-9AB9-4FDB962846C8}">
      <dsp:nvSpPr>
        <dsp:cNvPr id="0" name=""/>
        <dsp:cNvSpPr/>
      </dsp:nvSpPr>
      <dsp:spPr>
        <a:xfrm rot="5400000">
          <a:off x="7222462" y="1831784"/>
          <a:ext cx="752131" cy="71515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 total of </a:t>
          </a:r>
          <a:r>
            <a:rPr lang="en-IN" sz="2100" b="0" i="0" u="none" kern="1200" dirty="0">
              <a:solidFill>
                <a:srgbClr val="0069B8"/>
              </a:solidFill>
              <a:highlight>
                <a:srgbClr val="C0C0C0"/>
              </a:highlight>
              <a:latin typeface="Calibri" panose="020F0502020204030204"/>
              <a:ea typeface="+mn-ea"/>
              <a:cs typeface="+mn-cs"/>
            </a:rPr>
            <a:t>1,26,480</a:t>
          </a:r>
          <a:r>
            <a:rPr lang="en-IN" sz="2100" b="0" i="0" u="none" kern="1200" dirty="0">
              <a:highlight>
                <a:srgbClr val="C0C0C0"/>
              </a:highlight>
            </a:rPr>
            <a:t> </a:t>
          </a:r>
          <a:r>
            <a:rPr lang="en-IN" sz="2100" b="0" i="0" u="none" kern="1200" dirty="0"/>
            <a:t>users completed a desired action such as making a purchase or signing up . </a:t>
          </a:r>
          <a:endParaRPr lang="en-IN" sz="2100" kern="1200" dirty="0"/>
        </a:p>
      </dsp:txBody>
      <dsp:txXfrm rot="-5400000">
        <a:off x="4022750" y="5068212"/>
        <a:ext cx="7114839" cy="678699"/>
      </dsp:txXfrm>
    </dsp:sp>
    <dsp:sp modelId="{53EC6191-27CE-4054-8EDC-0ED818554174}">
      <dsp:nvSpPr>
        <dsp:cNvPr id="0" name=""/>
        <dsp:cNvSpPr/>
      </dsp:nvSpPr>
      <dsp:spPr>
        <a:xfrm>
          <a:off x="0" y="4937480"/>
          <a:ext cx="4022750" cy="940163"/>
        </a:xfrm>
        <a:prstGeom prst="roundRect">
          <a:avLst/>
        </a:prstGeom>
        <a:pattFill prst="sphere">
          <a:fgClr>
            <a:srgbClr val="4472C4">
              <a:hueOff val="0"/>
              <a:satOff val="0"/>
              <a:lumOff val="0"/>
            </a:srgbClr>
          </a:fgClr>
          <a:bgClr>
            <a:srgbClr val="00B0F0"/>
          </a:bgClr>
        </a:patt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TOTAL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CONVERSIONS</a:t>
          </a:r>
          <a:endParaRPr lang="en-IN" sz="22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45895" y="4983375"/>
        <a:ext cx="3930960" cy="848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E67B5-6C9D-4044-A3EA-49B5686ABA79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EF6C1-01A3-4900-8721-7545A2C01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2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EF6C1-01A3-4900-8721-7545A2C0156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63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8996-466A-81FF-D4C8-FCFD0D890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A01C3-8D41-7ADB-0FDF-26A8CC461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4D77C-03B0-0E67-4A3C-26EA0A5D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48012-A7E8-016C-26DB-D5015E1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37D95-3347-BF71-CB53-A12EB3C7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7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DB01-CE26-4D98-57F3-08BB7D1D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3EC2-984E-A3A7-8705-813254C3E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5419E-CDB9-E9A4-42A4-A0D063FF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5D7D7-3A16-9864-E522-18BB0705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30F53-9E9E-8AF6-00BD-98A54841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43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42E0-6F7D-CE3C-BA05-B7F2A845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D412-3496-2372-430F-630F88D97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07492-66C5-A183-0337-FBC89CBB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2F6B5-6941-2E40-B917-D436F97D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7BC31-817D-6506-ECE5-42B2F4B1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0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4504-A415-B099-5B37-92A7ABF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968C-C3AE-E571-B8AA-1A77DC504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833FB-DF70-1DB2-02EA-74AD2D295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80539-7036-58F5-D4A0-4F025E29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4D6F-EF99-A627-8996-C99EA81F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94672-9B15-0378-E4C1-0D76124E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20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55C5-0225-6D0F-31AD-698565CC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E9F99-1C84-0A36-A409-22A94EB8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3FD5C-F860-8CDB-A58C-E62C0348C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01D6C-F6D3-7016-2D42-EFCAB41A3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22795-91B5-0E7E-806E-2DD33A718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61237-F64C-BA86-E9E5-4D418B8F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43140-69B0-9E7B-AF3E-948FF2BB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FE866-36BC-65E3-4BBF-E00D028E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34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E748-FA78-3651-1B54-1EA85493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C7615-863E-F8AA-FA78-FA719FE34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F3C97-3030-16EA-07EE-378A52E2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339B7-CD02-1E2E-3C4B-7824CAFE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52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F906B-8BBE-33B8-68B7-DFFFD95E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39574-929F-2688-7D1C-20E6A229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9950F-C888-46FE-FB45-F9E1F476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22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8C2-8812-A67F-75E8-5383BC3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26BAB-5653-AE54-493E-7F3D67703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D62F5-B4EB-1D51-944B-95B9C61B6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8E0AF-A5DE-71DF-FEAF-70CAA148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13815-8B9F-2A31-81AF-1BD043FE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F05E7-4B8D-00E3-72A8-EFA850B9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FFA5-3B2F-54C3-8485-06CB1BE6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E876C-C8C2-65FA-1F59-2AB47BED7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7A363-63C0-0541-8F2A-99A463E54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64B74-F9A8-E83D-8458-7918B70E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DFC7B-9160-2008-ED39-FC70E413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40537-7BB9-62DE-B239-B032E0B1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95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C351-F0EC-BAE6-01CA-464FBAAF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83378-1135-E39A-9339-402EA4B59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D0DC-65DE-3131-929C-202F1F07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01CC-32F9-6293-3DB9-DA9F8F63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F9828-0362-7934-5D7C-867D7D08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2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E52E1-575E-C2A7-5FE0-364889437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9A000-F372-1BB8-4212-E0E4E8F1E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B23F-0369-BAD4-4CD3-6663DA61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4AE4C-07E6-9EE1-99AC-50307155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6C38-A71C-D43F-610F-6139FEDD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3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22BCA-3768-847D-3F04-88558836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3F63A-32E0-561E-D808-9136E5452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A3CA-CE72-A75E-15BD-B968E75F9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0DEC6-2A23-4199-84CF-8AA7C8D4B0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CF9F0-AA3B-1C2A-AF86-8EF891859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B0E67-1A8F-D5CA-BAC9-C44605636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54917-A064-4E58-9783-EAEDE5FEF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51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echnofaq.org/posts/2020/03/social-media-marketing-strategy-in-5-easy-steps-2020-guide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ublicdomainpictures.net/view-image.php?image=40078&amp;large=1" TargetMode="External"/><Relationship Id="rId13" Type="http://schemas.openxmlformats.org/officeDocument/2006/relationships/image" Target="../media/image6.png"/><Relationship Id="rId18" Type="http://schemas.openxmlformats.org/officeDocument/2006/relationships/hyperlink" Target="https://freepngimg.com/png/42845-cart-download-hd-png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12" Type="http://schemas.openxmlformats.org/officeDocument/2006/relationships/hyperlink" Target="https://pixabay.com/illustrations/eye-icon-symbol-look-vision-see-1915454/" TargetMode="External"/><Relationship Id="rId17" Type="http://schemas.openxmlformats.org/officeDocument/2006/relationships/image" Target="../media/image8.png"/><Relationship Id="rId2" Type="http://schemas.openxmlformats.org/officeDocument/2006/relationships/diagramData" Target="../diagrams/data1.xml"/><Relationship Id="rId16" Type="http://schemas.openxmlformats.org/officeDocument/2006/relationships/hyperlink" Target="https://freepngimg.com/png/10601-click-here-png-picture" TargetMode="Externa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7.png"/><Relationship Id="rId10" Type="http://schemas.openxmlformats.org/officeDocument/2006/relationships/hyperlink" Target="https://pixabay.com/en/money-bag-profit-gold-coins-40603/" TargetMode="Externa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Relationship Id="rId14" Type="http://schemas.openxmlformats.org/officeDocument/2006/relationships/hyperlink" Target="https://freepngimg.com/png/25823-stock-marke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jpeg"/><Relationship Id="rId7" Type="http://schemas.openxmlformats.org/officeDocument/2006/relationships/hyperlink" Target="https://mirincondemariposas.blogspot.com/2018/12/una-pierna-de-cada.html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1.xml"/><Relationship Id="rId9" Type="http://schemas.openxmlformats.org/officeDocument/2006/relationships/hyperlink" Target="https://pixabay.com/en/facebook-logo-social-network-770688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2.xml"/><Relationship Id="rId7" Type="http://schemas.microsoft.com/office/2007/relationships/hdphoto" Target="../media/hdphoto3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hyperlink" Target="https://www.freepnglogos.com/logos/youtube-logo-png" TargetMode="External"/><Relationship Id="rId5" Type="http://schemas.microsoft.com/office/2007/relationships/hdphoto" Target="../media/hdphoto2.wdp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hyperlink" Target="https://pixabay.com/en/facebook-logo-social-network-770688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jpeg"/><Relationship Id="rId7" Type="http://schemas.openxmlformats.org/officeDocument/2006/relationships/hyperlink" Target="https://www.freepnglogos.com/logos/youtube-logo-png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irincondemariposas.blogspot.com/2018/12/una-pierna-de-cada.html" TargetMode="External"/><Relationship Id="rId3" Type="http://schemas.openxmlformats.org/officeDocument/2006/relationships/image" Target="../media/image17.jpeg"/><Relationship Id="rId7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jpeg"/><Relationship Id="rId7" Type="http://schemas.openxmlformats.org/officeDocument/2006/relationships/hyperlink" Target="https://mirincondemariposas.blogspot.com/2018/12/una-pierna-de-cada.html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5.xml"/><Relationship Id="rId9" Type="http://schemas.openxmlformats.org/officeDocument/2006/relationships/hyperlink" Target="https://pixabay.com/en/facebook-logo-social-network-770688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facebook-logo-social-network-770688/" TargetMode="External"/><Relationship Id="rId3" Type="http://schemas.microsoft.com/office/2007/relationships/hdphoto" Target="../media/hdphoto4.wdp"/><Relationship Id="rId7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hart" Target="../charts/chart6.xml"/><Relationship Id="rId10" Type="http://schemas.openxmlformats.org/officeDocument/2006/relationships/hyperlink" Target="https://www.freepnglogos.com/logos/youtube-logo-png" TargetMode="External"/><Relationship Id="rId4" Type="http://schemas.openxmlformats.org/officeDocument/2006/relationships/image" Target="../media/image17.jpe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hart" Target="../charts/chart7.xml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image" Target="../media/image11.png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5" Type="http://schemas.openxmlformats.org/officeDocument/2006/relationships/image" Target="../media/image11.png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hart" Target="../charts/chart10.xml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hart" Target="../charts/chart11.xml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logos.com/logos/youtube-logo-png" TargetMode="External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hart" Target="../charts/chart12.xml"/><Relationship Id="rId4" Type="http://schemas.openxmlformats.org/officeDocument/2006/relationships/image" Target="../media/image17.jpe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primalsurvivor.net/home-defense/" TargetMode="External"/><Relationship Id="rId7" Type="http://schemas.openxmlformats.org/officeDocument/2006/relationships/hyperlink" Target="https://pixabay.com/en/facebook-logo-social-network-770688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hyperlink" Target="https://www.freepnglogos.com/logos/youtube-logo-png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hyperlink" Target="https://mirincondemariposas.blogspot.com/2018/12/una-pierna-de-cada.html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hyperlink" Target="https://mirincondemariposas.blogspot.com/2018/12/una-pierna-de-cada.html" TargetMode="External"/><Relationship Id="rId3" Type="http://schemas.openxmlformats.org/officeDocument/2006/relationships/image" Target="../media/image17.jpeg"/><Relationship Id="rId7" Type="http://schemas.openxmlformats.org/officeDocument/2006/relationships/hyperlink" Target="https://pixabay.com/ko/%EC%9D%B8-%EC%82%AC%EC%9D%B4%ED%8A%B8-%EB%8D%B0%EC%9D%B4%ED%84%B0-%EC%8B%9C%EA%B0%81%ED%99%94-%EB%94%94%EC%A7%80%ED%84%B8-%EC%97%B0%EA%B5%AC-%EC%A0%95%EB%B3%B4-%EC%9B%B9-%EB%A1%9C%EA%B7%B8-%EB%B6%84%EC%84%9D-2904292/" TargetMode="Externa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hyperlink" Target="https://pixabay.com/en/facebook-logo-social-network-770688/" TargetMode="External"/><Relationship Id="rId5" Type="http://schemas.microsoft.com/office/2007/relationships/hdphoto" Target="../media/hdphoto5.wdp"/><Relationship Id="rId15" Type="http://schemas.openxmlformats.org/officeDocument/2006/relationships/hyperlink" Target="https://globalvoices.org/2016/05/17/ugandans-are-finally-back-on-social-media-after-days-long-blackout/" TargetMode="External"/><Relationship Id="rId10" Type="http://schemas.openxmlformats.org/officeDocument/2006/relationships/image" Target="../media/image13.png"/><Relationship Id="rId4" Type="http://schemas.openxmlformats.org/officeDocument/2006/relationships/image" Target="../media/image26.png"/><Relationship Id="rId9" Type="http://schemas.openxmlformats.org/officeDocument/2006/relationships/hyperlink" Target="https://www.freepnglogos.com/logos/youtube-logo-png" TargetMode="External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AA6B-0AF3-6B48-154F-3B51B1CBE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776" y="789763"/>
            <a:ext cx="11255223" cy="2305565"/>
          </a:xfrm>
          <a:solidFill>
            <a:schemeClr val="accent1">
              <a:lumMod val="20000"/>
              <a:lumOff val="80000"/>
            </a:schemeClr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DIGITAL ADVERTISEMENT CAMPAIGN ANALYSIS</a:t>
            </a:r>
            <a:endParaRPr lang="en-IN" u="sng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28821-51F3-4037-27EB-567D3E6B5C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4776" y="3577039"/>
            <a:ext cx="11255223" cy="2585323"/>
          </a:xfrm>
          <a:prstGeom prst="rect">
            <a:avLst/>
          </a:prstGeom>
          <a:blipFill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Brush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analyzing digital advertisement campaigns.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campaigns were run on four platforms: Instagram, Facebook, YouTube, and Google Ads.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includes over 100 campaigns conducted between January 2024 and March 2025.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study campaign performance using key metrics such as cost, impressions, clicks, conversions, and revenue.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BC02B6-401F-419E-AE6E-1FBC21323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89076" y="1271474"/>
            <a:ext cx="1518354" cy="1790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36C42E-5A0A-BD03-0B64-5FAB3CC6B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813674" y="1304686"/>
            <a:ext cx="1518354" cy="179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4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F2C7D62-0457-F6B2-1A89-E5A6BEAD9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0746708"/>
              </p:ext>
            </p:extLst>
          </p:nvPr>
        </p:nvGraphicFramePr>
        <p:xfrm>
          <a:off x="467361" y="287866"/>
          <a:ext cx="11174306" cy="5879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CAAE2E1-7942-1C10-1946-DBF3C0EAD5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11438" y="369181"/>
            <a:ext cx="780040" cy="780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FAA43-6314-2C90-DBB8-82D45A0E99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25114" y="2386281"/>
            <a:ext cx="866364" cy="780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94344E-A8C6-E11E-5522-06586C9A89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94093" y="3429000"/>
            <a:ext cx="897385" cy="641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9647B2-3AB1-1C4B-B85F-48587C1814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784687" y="1442418"/>
            <a:ext cx="1006791" cy="6417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5D1CD4-40F6-F77D-3778-390542A5CE0D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784687" y="4384182"/>
            <a:ext cx="1006791" cy="7793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2AFDD5-3185-31F7-D575-F79CAA39758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619432" y="5126413"/>
            <a:ext cx="1172046" cy="117204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09DD55-D421-6A07-904B-A1495ACC99B4}"/>
              </a:ext>
            </a:extLst>
          </p:cNvPr>
          <p:cNvSpPr txBox="1"/>
          <p:nvPr/>
        </p:nvSpPr>
        <p:spPr>
          <a:xfrm>
            <a:off x="3657600" y="58674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7954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7827CE-9012-48EA-BEE6-EAB6DD7066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367827CE-9012-48EA-BEE6-EAB6DD7066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367827CE-9012-48EA-BEE6-EAB6DD7066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3CD8B0-F633-4346-B8C8-7F5859F5C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773CD8B0-F633-4346-B8C8-7F5859F5C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773CD8B0-F633-4346-B8C8-7F5859F5C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D08D6F8-30C7-4DAB-951F-D586148482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6D08D6F8-30C7-4DAB-951F-D586148482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6D08D6F8-30C7-4DAB-951F-D586148482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650D40-624D-4B78-86B1-4BE784497C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graphicEl>
                                              <a:dgm id="{B8650D40-624D-4B78-86B1-4BE784497C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B8650D40-624D-4B78-86B1-4BE784497C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971A58-2DF2-48E4-A8E2-46E2907EC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D6971A58-2DF2-48E4-A8E2-46E2907EC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graphicEl>
                                              <a:dgm id="{D6971A58-2DF2-48E4-A8E2-46E2907EC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F8197F-6C3A-417B-B7E3-EDF8328A48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F2F8197F-6C3A-417B-B7E3-EDF8328A48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graphicEl>
                                              <a:dgm id="{F2F8197F-6C3A-417B-B7E3-EDF8328A48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A84050A-8194-4AA9-AC32-8CEE735B5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7A84050A-8194-4AA9-AC32-8CEE735B5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7A84050A-8194-4AA9-AC32-8CEE735B5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D77CAC-13A8-403B-B0AA-2D53464D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graphicEl>
                                              <a:dgm id="{71D77CAC-13A8-403B-B0AA-2D53464D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71D77CAC-13A8-403B-B0AA-2D53464D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7B40677-936D-4EA1-B12D-A188979B6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87B40677-936D-4EA1-B12D-A188979B6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graphicEl>
                                              <a:dgm id="{87B40677-936D-4EA1-B12D-A188979B6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114F61-B263-4FF8-895E-99E4F681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B9114F61-B263-4FF8-895E-99E4F681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graphicEl>
                                              <a:dgm id="{B9114F61-B263-4FF8-895E-99E4F681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3EC6191-27CE-4054-8EDC-0ED818554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graphicEl>
                                              <a:dgm id="{53EC6191-27CE-4054-8EDC-0ED818554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graphicEl>
                                              <a:dgm id="{53EC6191-27CE-4054-8EDC-0ED818554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495E71-D8D1-46B1-9AB9-4FDB962846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graphicEl>
                                              <a:dgm id="{84495E71-D8D1-46B1-9AB9-4FDB962846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84495E71-D8D1-46B1-9AB9-4FDB962846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479B-B5F2-4E65-B49A-1C506805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329380"/>
            <a:ext cx="11779045" cy="938982"/>
          </a:xfrm>
          <a:blipFill>
            <a:blip r:embed="rId2">
              <a:alphaModFix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April 2024 Ad Campaign Performance</a:t>
            </a:r>
            <a:endParaRPr lang="en-IN" sz="4800" b="1" i="1" u="sng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40000"/>
                  <a:lumOff val="6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325A-EBCD-AF79-3A3E-1641437E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652" y="1423594"/>
            <a:ext cx="5791200" cy="5102942"/>
          </a:xfrm>
          <a:blipFill>
            <a:blip r:embed="rId3">
              <a:alphaModFix amt="85000"/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Instagram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69B8"/>
                </a:solidFill>
              </a:rPr>
              <a:t>Facebook had minimal investment but also yielded the least profit.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April, Instagram had the highest cost and profit, while Facebook had the lowest cost and profit.</a:t>
            </a:r>
            <a:endParaRPr lang="en-IN" sz="2200" dirty="0">
              <a:solidFill>
                <a:srgbClr val="00B0F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2B4226-2983-DB73-82A5-D9EDAD113A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261232"/>
              </p:ext>
            </p:extLst>
          </p:nvPr>
        </p:nvGraphicFramePr>
        <p:xfrm>
          <a:off x="167148" y="1425677"/>
          <a:ext cx="5928852" cy="5102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C2916D0-2379-1218-E2EB-7E16FD98B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22788"/>
            <a:ext cx="1061884" cy="776748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DFE4C6DA-8265-F3C0-0C6A-D7BD35DA729C}"/>
              </a:ext>
            </a:extLst>
          </p:cNvPr>
          <p:cNvSpPr/>
          <p:nvPr/>
        </p:nvSpPr>
        <p:spPr>
          <a:xfrm>
            <a:off x="7384774" y="4127626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AF68C3B-A7A3-C992-DEBE-70ECCD74D9D8}"/>
              </a:ext>
            </a:extLst>
          </p:cNvPr>
          <p:cNvSpPr/>
          <p:nvPr/>
        </p:nvSpPr>
        <p:spPr>
          <a:xfrm>
            <a:off x="9650147" y="4123725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6A1D34-E2DA-F29B-E48D-B1986C6C5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flipH="1">
            <a:off x="6740226" y="4092839"/>
            <a:ext cx="506896" cy="50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C1E0EE-06A6-FF71-AE3C-88D6CF92AF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005599" y="4123725"/>
            <a:ext cx="506896" cy="47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4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5" grpId="0">
        <p:bldSub>
          <a:bldChart bld="series"/>
        </p:bldSub>
      </p:bldGraphic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F8A3-69F3-E412-471F-AD0AD41DC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1" y="219684"/>
            <a:ext cx="11754679" cy="995855"/>
          </a:xfrm>
          <a:blipFill>
            <a:blip r:embed="rId2">
              <a:alphaModFix amt="8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</a:t>
            </a:r>
            <a:r>
              <a:rPr lang="en-US" sz="4800" b="1" i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</a:rPr>
              <a:t>May 2024 Ad Campaign Performance</a:t>
            </a:r>
            <a:endParaRPr lang="en-IN" sz="4800" b="1" i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6274673"/>
              </p:ext>
            </p:extLst>
          </p:nvPr>
        </p:nvGraphicFramePr>
        <p:xfrm>
          <a:off x="6096000" y="1338356"/>
          <a:ext cx="5877339" cy="5230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654EFB26-F874-6DE6-66A7-7CB30DE00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661" y="1338356"/>
            <a:ext cx="5688154" cy="5262979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9525">
            <a:solidFill>
              <a:srgbClr val="0069B8"/>
            </a:solidFill>
            <a:miter lim="800000"/>
            <a:headEnd/>
            <a:tailEnd/>
          </a:ln>
          <a:effectLst>
            <a:glow rad="63500">
              <a:srgbClr val="00B0F0">
                <a:alpha val="40000"/>
              </a:srgbClr>
            </a:glow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Facebook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had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highest cost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and also generated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highest profit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 May.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YouTube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recorded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lowest cost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and also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lowest profit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during this month.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In May, Facebook had the highest cost and profit, while YouTube had the lowest cost and profit.</a:t>
            </a:r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D27BD9-A820-1226-FF13-090BCC9CA51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2" y="329237"/>
            <a:ext cx="1061884" cy="776748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B2D392B2-A921-ED31-1E4A-3EF599EFF84F}"/>
              </a:ext>
            </a:extLst>
          </p:cNvPr>
          <p:cNvSpPr/>
          <p:nvPr/>
        </p:nvSpPr>
        <p:spPr>
          <a:xfrm>
            <a:off x="1203604" y="4579570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C9562E7-0818-B9F9-51A8-E8802F52BF85}"/>
              </a:ext>
            </a:extLst>
          </p:cNvPr>
          <p:cNvSpPr/>
          <p:nvPr/>
        </p:nvSpPr>
        <p:spPr>
          <a:xfrm>
            <a:off x="3546214" y="4575669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0CBF67-4D3D-1BF5-FBA2-12A525F6AF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02116" y="4575669"/>
            <a:ext cx="506896" cy="4760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616D2A-DCEE-B8D5-94B0-F381A0771A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331169" y="4170191"/>
            <a:ext cx="1667311" cy="125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7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4" grpId="0">
        <p:bldSub>
          <a:bldChart bld="series"/>
        </p:bldSub>
      </p:bldGraphic>
      <p:bldP spid="6" grpId="0" build="p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E824-162C-E093-8931-B8B47C8C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7" y="325821"/>
            <a:ext cx="11687504" cy="987972"/>
          </a:xfrm>
          <a:blipFill>
            <a:blip r:embed="rId2">
              <a:alphaModFix amt="85000"/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June 2024 Ad Campaign Performance</a:t>
            </a:r>
            <a:endParaRPr lang="en-IN" sz="4800" b="1" i="1" u="sng" dirty="0">
              <a:ln w="12700">
                <a:solidFill>
                  <a:schemeClr val="accent1"/>
                </a:solidFill>
                <a:prstDash val="solid"/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73E8-86E7-91E6-E43D-0417C807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25" y="1419405"/>
            <a:ext cx="5686096" cy="5223132"/>
          </a:xfrm>
          <a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YouTube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69B8"/>
                </a:solidFill>
              </a:rPr>
              <a:t>Google Ads had minimal investment but also yielded the least profit.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June, YouTube had the highest cost and profit, while Google Ads had the lowest cost and profit.</a:t>
            </a:r>
            <a:endParaRPr lang="en-IN" sz="2200" dirty="0">
              <a:solidFill>
                <a:srgbClr val="00B0F0"/>
              </a:solidFill>
            </a:endParaRP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9099720-171F-5012-B6FF-C42A47D022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954209"/>
              </p:ext>
            </p:extLst>
          </p:nvPr>
        </p:nvGraphicFramePr>
        <p:xfrm>
          <a:off x="220718" y="1419405"/>
          <a:ext cx="5839594" cy="5223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588AEA5-776E-E82A-D643-8B3C91CA26E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35" y="431433"/>
            <a:ext cx="1061884" cy="776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3E7BF0-EDAA-AAF0-CB85-96CE07467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285188" y="3535082"/>
            <a:ext cx="1496639" cy="11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E94502-3436-0867-4812-16ACAD60F2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500" y="3801942"/>
            <a:ext cx="511852" cy="511852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3F4892BC-3602-FA24-3342-2C4DB26E46F8}"/>
              </a:ext>
            </a:extLst>
          </p:cNvPr>
          <p:cNvSpPr/>
          <p:nvPr/>
        </p:nvSpPr>
        <p:spPr>
          <a:xfrm>
            <a:off x="7338291" y="3878421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017CA89-7C03-E802-2B25-48C8FC4B14FF}"/>
              </a:ext>
            </a:extLst>
          </p:cNvPr>
          <p:cNvSpPr/>
          <p:nvPr/>
        </p:nvSpPr>
        <p:spPr>
          <a:xfrm>
            <a:off x="9583125" y="3876472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0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5" grpId="0">
        <p:bldSub>
          <a:bldChart bld="series"/>
        </p:bldSub>
      </p:bldGraphic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F4B9-5D93-585C-4836-A2CD9413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8" y="365126"/>
            <a:ext cx="11771584" cy="990708"/>
          </a:xfrm>
          <a:blipFill>
            <a:blip r:embed="rId2">
              <a:alphaModFix amt="85000"/>
              <a:duotone>
                <a:prstClr val="black"/>
                <a:srgbClr val="FFCCFF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u="sng" dirty="0">
                <a:ln w="12700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E7D9F9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July 2024 Ad Campaign Performance</a:t>
            </a:r>
            <a:endParaRPr lang="en-IN" sz="4800" b="1" i="1" dirty="0">
              <a:ln w="12700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rgbClr val="E7D9F9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2D8B4-476A-24BC-D694-40DA27B4A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8" y="1462814"/>
            <a:ext cx="5885793" cy="5233402"/>
          </a:xfrm>
          <a:blipFill>
            <a:blip r:embed="rId3">
              <a:duotone>
                <a:prstClr val="black"/>
                <a:srgbClr val="F5B1E8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69B8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Google Ads had the highest cost and also generated the highest profit in July.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Instagram recorded the lowest cost and also the lowest profit during this month.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In July, Google Ads had the highest cost and profit, while Instagram had the lowest cost and profit.</a:t>
            </a:r>
            <a:endParaRPr lang="en-IN" dirty="0">
              <a:solidFill>
                <a:srgbClr val="00B0F0"/>
              </a:solidFill>
            </a:endParaRPr>
          </a:p>
          <a:p>
            <a:endParaRPr lang="en-IN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1831754"/>
              </p:ext>
            </p:extLst>
          </p:nvPr>
        </p:nvGraphicFramePr>
        <p:xfrm>
          <a:off x="6248400" y="1462814"/>
          <a:ext cx="5733392" cy="5233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B7A427C-52E3-F76D-7BCB-A2129A598BD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E622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38" y="472106"/>
            <a:ext cx="1061884" cy="776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6B85B6-5C55-056F-1B65-0CA88B7718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28" y="4510954"/>
            <a:ext cx="511852" cy="511852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E4E69CEC-22B5-ADB6-E4EF-045A31E1B642}"/>
              </a:ext>
            </a:extLst>
          </p:cNvPr>
          <p:cNvSpPr/>
          <p:nvPr/>
        </p:nvSpPr>
        <p:spPr>
          <a:xfrm>
            <a:off x="3277615" y="4581583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2E15F-DB8C-2D3C-DB7F-163146F81F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flipH="1">
            <a:off x="2671208" y="4494293"/>
            <a:ext cx="528513" cy="528513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7E4231B-C144-9394-A287-ACB827CEFCF1}"/>
              </a:ext>
            </a:extLst>
          </p:cNvPr>
          <p:cNvSpPr/>
          <p:nvPr/>
        </p:nvSpPr>
        <p:spPr>
          <a:xfrm>
            <a:off x="988595" y="4585484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7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Graphic spid="7" grpId="0">
        <p:bldSub>
          <a:bldChart bld="series"/>
        </p:bldSub>
      </p:bldGraphic>
      <p:bldP spid="5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06A6-77B9-DE4F-E3DA-CF49B569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28" y="365126"/>
            <a:ext cx="11719034" cy="1001219"/>
          </a:xfrm>
          <a:blipFill>
            <a:blip r:embed="rId2">
              <a:alphaModFix amt="85000"/>
              <a:duotone>
                <a:prstClr val="black"/>
                <a:srgbClr val="FF9966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August 2024 Ad Campaign Performance</a:t>
            </a:r>
            <a:endParaRPr lang="en-IN" sz="4800" b="1" i="1" u="sng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1FE0-A85C-4C24-9D12-35A3A8066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15368"/>
            <a:ext cx="5854262" cy="5137679"/>
          </a:xfrm>
          <a:blipFill>
            <a:blip r:embed="rId3">
              <a:duotone>
                <a:prstClr val="black"/>
                <a:srgbClr val="EAB18E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Instagram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Facebook had minimal investment but also yielded the least profit.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August, Instagram had the highest cost and profit, while Facebook had the lowest cost and profit.</a:t>
            </a:r>
            <a:endParaRPr lang="en-IN" sz="2200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rgbClr val="0070C0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869906"/>
              </p:ext>
            </p:extLst>
          </p:nvPr>
        </p:nvGraphicFramePr>
        <p:xfrm>
          <a:off x="231228" y="1515368"/>
          <a:ext cx="5696606" cy="5137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F11D229-BD50-8F77-68C7-0834DCE915F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04" y="514148"/>
            <a:ext cx="1061884" cy="776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DA8E7F-57D4-D1C9-5B7A-4E12E4F7B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flipH="1">
            <a:off x="6534991" y="3911141"/>
            <a:ext cx="528513" cy="528513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65073556-3A44-B2BA-5405-7E45E01E96B4}"/>
              </a:ext>
            </a:extLst>
          </p:cNvPr>
          <p:cNvSpPr/>
          <p:nvPr/>
        </p:nvSpPr>
        <p:spPr>
          <a:xfrm>
            <a:off x="7136874" y="3911141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B7B95D9-0F3F-8882-6DF0-757A34434C16}"/>
              </a:ext>
            </a:extLst>
          </p:cNvPr>
          <p:cNvSpPr/>
          <p:nvPr/>
        </p:nvSpPr>
        <p:spPr>
          <a:xfrm>
            <a:off x="9448772" y="3911141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E4CA7-1CFC-8E23-5BE5-895DA6B3F6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868506" y="3872453"/>
            <a:ext cx="506896" cy="47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2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6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8" grpId="0">
        <p:bldSub>
          <a:bldChart bld="series"/>
        </p:bldSub>
      </p:bldGraphic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5007-037E-7D82-82E4-AED3F769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7" y="365125"/>
            <a:ext cx="11729545" cy="990709"/>
          </a:xfrm>
          <a:blipFill>
            <a:blip r:embed="rId2">
              <a:alphaModFix amt="85000"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halkSketch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September 2024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0D36-03A9-713F-9CBF-E3091B63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481959"/>
            <a:ext cx="5864772" cy="5223641"/>
          </a:xfrm>
          <a:blipFill>
            <a:blip r:embed="rId4">
              <a:duotone>
                <a:prstClr val="black"/>
                <a:srgbClr val="F8FAA4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69B8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Facebook had the highest cost and also generated the highest profit in September.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YouTube recorded the lowest cost and also the lowest profit during this month.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</a:rPr>
              <a:t>In September, Facebook had the highest cost and profit, while YouTube had the lowest cost and profit.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595097"/>
              </p:ext>
            </p:extLst>
          </p:nvPr>
        </p:nvGraphicFramePr>
        <p:xfrm>
          <a:off x="6285187" y="1481959"/>
          <a:ext cx="5665075" cy="522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BF65915-D36B-A969-8D76-AE9FFCBB1B2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8" y="498381"/>
            <a:ext cx="1061884" cy="776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89C56D-6D06-1423-FACC-3E1B29AD06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96859" y="4317695"/>
            <a:ext cx="506896" cy="476010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50B47770-1B0A-EFB6-C68D-F41E031F6E87}"/>
              </a:ext>
            </a:extLst>
          </p:cNvPr>
          <p:cNvSpPr/>
          <p:nvPr/>
        </p:nvSpPr>
        <p:spPr>
          <a:xfrm>
            <a:off x="1194123" y="4356383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DA980-3805-A61C-5E4E-3E9ED77C46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19447" y="3948955"/>
            <a:ext cx="1667311" cy="125217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22E0C5B-B9C8-9B2E-AC0A-A6B866857D49}"/>
              </a:ext>
            </a:extLst>
          </p:cNvPr>
          <p:cNvSpPr/>
          <p:nvPr/>
        </p:nvSpPr>
        <p:spPr>
          <a:xfrm>
            <a:off x="3540937" y="4352482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6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9" grpId="0" uiExpand="1">
        <p:bldSub>
          <a:bldChart bld="series"/>
        </p:bldSub>
      </p:bldGraphic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3E81-5BFA-DA42-53F3-89DBBF6B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59" y="365126"/>
            <a:ext cx="11676993" cy="1011729"/>
          </a:xfrm>
          <a:blipFill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October 2024 Ad Campaign Performance</a:t>
            </a:r>
            <a:endParaRPr lang="en-IN" sz="4800" b="1" i="1" u="sng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80C9D-6573-493C-B4BB-DFB95A52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20622"/>
            <a:ext cx="5843752" cy="5142937"/>
          </a:xfrm>
          <a:blipFill>
            <a:blip r:embed="rId4">
              <a:duotone>
                <a:prstClr val="black"/>
                <a:srgbClr val="CCFFFF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YouTube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Google Ads had minimal investment but also yielded the least profit.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October, YouTube had the highest cost and profit, while Google Ads had the lowest cost and profit.</a:t>
            </a:r>
            <a:endParaRPr lang="en-IN" sz="22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520840"/>
              </p:ext>
            </p:extLst>
          </p:nvPr>
        </p:nvGraphicFramePr>
        <p:xfrm>
          <a:off x="262758" y="1520622"/>
          <a:ext cx="5602013" cy="5142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2FFF08E-4620-398C-9940-C432B9824B7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6" y="508893"/>
            <a:ext cx="1061884" cy="776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5FDEF-BE7E-80D6-3A36-0258BBD7F2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046111" y="3495867"/>
            <a:ext cx="1496639" cy="1124001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0C37AB75-45B2-A948-B8AE-8F37F5F8D26D}"/>
              </a:ext>
            </a:extLst>
          </p:cNvPr>
          <p:cNvSpPr/>
          <p:nvPr/>
        </p:nvSpPr>
        <p:spPr>
          <a:xfrm>
            <a:off x="7092861" y="3839206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7893EE-4F42-18BD-3A2B-89FE6A8218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327" y="3764676"/>
            <a:ext cx="511852" cy="51185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E267882A-E20D-D064-FDF8-4475BF71C28B}"/>
              </a:ext>
            </a:extLst>
          </p:cNvPr>
          <p:cNvSpPr/>
          <p:nvPr/>
        </p:nvSpPr>
        <p:spPr>
          <a:xfrm>
            <a:off x="9563068" y="3839206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43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4" grpId="0">
        <p:bldSub>
          <a:bldChart bld="series"/>
        </p:bldSub>
      </p:bldGraphic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08DF6-3CC9-0819-7255-80C98290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7" y="365125"/>
            <a:ext cx="11771586" cy="990709"/>
          </a:xfrm>
          <a:blipFill>
            <a:blip r:embed="rId2">
              <a:alphaModFix amt="85000"/>
              <a:duotone>
                <a:prstClr val="black"/>
                <a:srgbClr val="83A998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FilmGrain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November 2024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6655-43CA-B658-DB6F-ECCB8B857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7" y="1489090"/>
            <a:ext cx="5885793" cy="5174469"/>
          </a:xfrm>
          <a:blipFill>
            <a:blip r:embed="rId4">
              <a:duotone>
                <a:prstClr val="black"/>
                <a:srgbClr val="83A998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69B8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YouTube had the highest cost and also generated the highest profit in November.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Google Ads recorded the lowest cost and also the lowest profit during this month.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</a:rPr>
              <a:t>In November, YouTube had the highest cost and profit, while Google Ads had the lowest cost and profit.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DD033-3558-0E4C-4977-B5FFE163BFE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83A99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21" y="498381"/>
            <a:ext cx="1061884" cy="77674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077213"/>
              </p:ext>
            </p:extLst>
          </p:nvPr>
        </p:nvGraphicFramePr>
        <p:xfrm>
          <a:off x="6274675" y="1489090"/>
          <a:ext cx="5707118" cy="517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484E241-FEA1-B514-AC55-3055C5D4A8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8443" y="4020602"/>
            <a:ext cx="1496639" cy="1124001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569554FB-0901-BF59-A685-D65FC837D2DD}"/>
              </a:ext>
            </a:extLst>
          </p:cNvPr>
          <p:cNvSpPr/>
          <p:nvPr/>
        </p:nvSpPr>
        <p:spPr>
          <a:xfrm>
            <a:off x="1169045" y="4363941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833B0-99F6-E3F0-1A25-1B20E8E7CB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77" y="4326676"/>
            <a:ext cx="511852" cy="51185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F014E0D2-C8DA-F1F3-B474-7E6BF54D7DF3}"/>
              </a:ext>
            </a:extLst>
          </p:cNvPr>
          <p:cNvSpPr/>
          <p:nvPr/>
        </p:nvSpPr>
        <p:spPr>
          <a:xfrm>
            <a:off x="3492908" y="4363941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6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6" grpId="0">
        <p:bldSub>
          <a:bldChart bld="series"/>
        </p:bldSub>
      </p:bldGraphic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E0E2-CFFC-457A-43D7-34D0A043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7" y="365126"/>
            <a:ext cx="11729543" cy="980198"/>
          </a:xfrm>
          <a:blipFill>
            <a:blip r:embed="rId2">
              <a:alphaModFix amt="85000"/>
              <a:duotone>
                <a:prstClr val="black"/>
                <a:srgbClr val="F9D1EC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stelsSmooth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December 2024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FE26C-F6DB-EB4E-0340-E5AD11564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457560"/>
            <a:ext cx="5833241" cy="5153447"/>
          </a:xfrm>
          <a:blipFill>
            <a:blip r:embed="rId4">
              <a:duotone>
                <a:prstClr val="black"/>
                <a:srgbClr val="E7D9F9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YouTube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Google Ads had minimal investment but also yielded the least profit.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December, YouTube had the highest cost and profit, while Google Ads had the lowest cost and profit.</a:t>
            </a:r>
            <a:endParaRPr lang="en-IN" sz="2200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4E8F88-0BC4-52CE-5953-A1251E7392C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9D1E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60" y="477362"/>
            <a:ext cx="1061884" cy="776748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29BC69D-A021-1364-5886-C9948A4CBE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895659"/>
              </p:ext>
            </p:extLst>
          </p:nvPr>
        </p:nvGraphicFramePr>
        <p:xfrm>
          <a:off x="199697" y="1457559"/>
          <a:ext cx="5717627" cy="5153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2AE4F7C-EE86-C607-C5E7-28860DFDC6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046111" y="3495867"/>
            <a:ext cx="1496639" cy="1124001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E4841FA9-0D1B-D84C-E05B-FC854A3CDAE5}"/>
              </a:ext>
            </a:extLst>
          </p:cNvPr>
          <p:cNvSpPr/>
          <p:nvPr/>
        </p:nvSpPr>
        <p:spPr>
          <a:xfrm>
            <a:off x="7092861" y="3839206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C203E-DAB3-02FD-1821-0B98B3EF64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327" y="3764676"/>
            <a:ext cx="511852" cy="51185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1D6896CD-BCB4-0F75-AE2C-753DA31D5B18}"/>
              </a:ext>
            </a:extLst>
          </p:cNvPr>
          <p:cNvSpPr/>
          <p:nvPr/>
        </p:nvSpPr>
        <p:spPr>
          <a:xfrm>
            <a:off x="9563068" y="3839206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88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5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8" grpId="0">
        <p:bldSub>
          <a:bldChart bld="series"/>
        </p:bldSub>
      </p:bldGraphic>
      <p:bldP spid="5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4E86-808D-21CD-B0DC-0CCF46F4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39" y="365126"/>
            <a:ext cx="11676992" cy="969688"/>
          </a:xfrm>
          <a:blipFill>
            <a:blip r:embed="rId2">
              <a:alphaModFix amt="85000"/>
              <a:duotone>
                <a:prstClr val="black"/>
                <a:srgbClr val="F5A1A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lasticWrap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January 2025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728C-75F2-61BE-B022-D48C13A82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39" y="1452305"/>
            <a:ext cx="5854261" cy="5169211"/>
          </a:xfrm>
          <a:blipFill>
            <a:blip r:embed="rId4">
              <a:duotone>
                <a:prstClr val="black"/>
                <a:srgbClr val="F8BABA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69B8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YouTube had the highest cost and also generated the highest profit in January.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Google Ads recorded the lowest cost and also the lowest profit during this month.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</a:rPr>
              <a:t>In January, YouTube had the highest cost and profit, while Google Ads had the lowest cost and profit.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AB1444D-A677-86A1-4CF6-5F6CB894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210287"/>
              </p:ext>
            </p:extLst>
          </p:nvPr>
        </p:nvGraphicFramePr>
        <p:xfrm>
          <a:off x="6228080" y="1452880"/>
          <a:ext cx="5690651" cy="5168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656A538-61FB-3A14-35EF-2240244F5F4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8BA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9" y="482617"/>
            <a:ext cx="1061884" cy="776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E61EFB-5913-C383-7FD6-28E3A0C79D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8443" y="4020602"/>
            <a:ext cx="1496639" cy="1124001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4424747F-9B7D-ACBD-681D-F23442D073B9}"/>
              </a:ext>
            </a:extLst>
          </p:cNvPr>
          <p:cNvSpPr/>
          <p:nvPr/>
        </p:nvSpPr>
        <p:spPr>
          <a:xfrm>
            <a:off x="1169045" y="4363941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96B86-E88E-6C41-4EF5-7D6D45E54B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77" y="4326676"/>
            <a:ext cx="511852" cy="51185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0B6B8A8E-8006-9C87-6FA3-50D5AC5749F3}"/>
              </a:ext>
            </a:extLst>
          </p:cNvPr>
          <p:cNvSpPr/>
          <p:nvPr/>
        </p:nvSpPr>
        <p:spPr>
          <a:xfrm>
            <a:off x="3492908" y="4363941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0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6" grpId="0">
        <p:bldSub>
          <a:bldChart bld="series"/>
        </p:bldSub>
      </p:bldGraphic>
      <p:bldP spid="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7A8A-67BC-0F0E-BEF1-5E116EEB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365126"/>
            <a:ext cx="11776364" cy="975302"/>
          </a:xfrm>
          <a:blipFill>
            <a:blip r:embed="rId2">
              <a:alphaModFix amt="85000"/>
              <a:duotone>
                <a:prstClr val="black"/>
                <a:srgbClr val="F7799D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lasticWrap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February 2025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BAE3-4C6F-5D3C-E419-F85974B42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39704"/>
            <a:ext cx="5888182" cy="5179303"/>
          </a:xfrm>
          <a:blipFill>
            <a:blip r:embed="rId4">
              <a:alphaModFix amt="85000"/>
              <a:duotone>
                <a:prstClr val="black"/>
                <a:srgbClr val="F7799D">
                  <a:tint val="45000"/>
                  <a:satMod val="400000"/>
                </a:srgbClr>
              </a:duotone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YouTube was the most expensive platform but delivered the best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Google Ads had minimal investment but also yielded the least profit.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US" sz="2200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B0F0"/>
                </a:solidFill>
              </a:rPr>
              <a:t>In February, YouTube had the highest cost and profit, while Google Ads had the lowest cost and profit.</a:t>
            </a:r>
            <a:endParaRPr lang="en-IN" sz="22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A4DEDF6-1874-1AA8-28DD-1812E267A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9777598"/>
              </p:ext>
            </p:extLst>
          </p:nvPr>
        </p:nvGraphicFramePr>
        <p:xfrm>
          <a:off x="207818" y="1439705"/>
          <a:ext cx="5663046" cy="5179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F2497FD-F69F-AAC1-EE21-E0A34753249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0B6E5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82" y="464403"/>
            <a:ext cx="1061884" cy="776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6B5805-521E-37E6-9618-8CE980B415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046111" y="3495867"/>
            <a:ext cx="1496639" cy="1124001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5C26321E-EAA5-2BA7-7E0B-0FD1FBAEBA53}"/>
              </a:ext>
            </a:extLst>
          </p:cNvPr>
          <p:cNvSpPr/>
          <p:nvPr/>
        </p:nvSpPr>
        <p:spPr>
          <a:xfrm>
            <a:off x="7092861" y="3839206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A0C42-D40D-4494-4A7C-8F273F84CC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327" y="3764676"/>
            <a:ext cx="511852" cy="51185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45284E81-556B-157B-0C0C-99A5B4187710}"/>
              </a:ext>
            </a:extLst>
          </p:cNvPr>
          <p:cNvSpPr/>
          <p:nvPr/>
        </p:nvSpPr>
        <p:spPr>
          <a:xfrm>
            <a:off x="9563068" y="3839206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61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4" grpId="0">
        <p:bldSub>
          <a:bldChart bld="series"/>
        </p:bldSub>
      </p:bldGraphic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EC59-7C83-9B96-7E68-F2F404F7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365126"/>
            <a:ext cx="11651672" cy="1006474"/>
          </a:xfrm>
          <a:blipFill>
            <a:blip r:embed="rId2">
              <a:alphaModFix amt="85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ement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0070C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       </a:t>
            </a:r>
            <a:r>
              <a:rPr lang="en-US" sz="4800" b="1" i="1" u="sng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March 2025 Ad Campaign Performance</a:t>
            </a:r>
            <a:endParaRPr lang="en-IN" sz="4800" b="1" i="1" dirty="0">
              <a:ln w="12700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34B6D-519D-3008-5396-07399B13D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4" y="1512441"/>
            <a:ext cx="5825836" cy="5065004"/>
          </a:xfrm>
          <a:blipFill>
            <a:blip r:embed="rId4">
              <a:grayscl/>
            </a:blip>
            <a:tile tx="0" ty="0" sx="100000" sy="100000" flip="none" algn="tl"/>
          </a:blipFill>
          <a:ln>
            <a:solidFill>
              <a:srgbClr val="0069B8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txBody>
          <a:bodyPr>
            <a:normAutofit fontScale="925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YouTube had the highest cost and also generated the highest profit in March.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</a:rPr>
              <a:t>Google Ads recorded the lowest cost and also the lowest profit during this month.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</a:rPr>
              <a:t>In March, YouTube had the highest cost and profit, while Google Ads had the lowest cost and profit.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B359F42-CE25-859B-36CD-12D43322C3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207343"/>
              </p:ext>
            </p:extLst>
          </p:nvPr>
        </p:nvGraphicFramePr>
        <p:xfrm>
          <a:off x="6307283" y="1512440"/>
          <a:ext cx="5614554" cy="5065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4B375F3-478D-EC47-1395-D8B429AB8975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19" y="505967"/>
            <a:ext cx="1061884" cy="776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AB5040-A44A-1FD6-8D92-32F7FDD269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8443" y="4020602"/>
            <a:ext cx="1496639" cy="1124001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2C5BE934-19A5-5A62-EDDA-87D125315ADE}"/>
              </a:ext>
            </a:extLst>
          </p:cNvPr>
          <p:cNvSpPr/>
          <p:nvPr/>
        </p:nvSpPr>
        <p:spPr>
          <a:xfrm>
            <a:off x="1169045" y="4363941"/>
            <a:ext cx="218660" cy="4373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294CA5-AA3A-96CD-AE95-1FDEA41654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77" y="4326676"/>
            <a:ext cx="511852" cy="511852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0BED44D5-28F9-C706-0168-05CE65A23C7B}"/>
              </a:ext>
            </a:extLst>
          </p:cNvPr>
          <p:cNvSpPr/>
          <p:nvPr/>
        </p:nvSpPr>
        <p:spPr>
          <a:xfrm>
            <a:off x="3492908" y="4363941"/>
            <a:ext cx="189592" cy="441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4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Graphic spid="4" grpId="0">
        <p:bldSub>
          <a:bldChart bld="series"/>
        </p:bldSub>
      </p:bldGraphic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289F-E020-DA03-EE6C-7CBF28D0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75" y="415368"/>
            <a:ext cx="11877150" cy="1353142"/>
          </a:xfrm>
          <a:pattFill prst="dashVert">
            <a:fgClr>
              <a:srgbClr val="0069B8"/>
            </a:fgClr>
            <a:bgClr>
              <a:schemeClr val="accent5">
                <a:lumMod val="40000"/>
                <a:lumOff val="60000"/>
              </a:schemeClr>
            </a:bgClr>
          </a:patt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              </a:t>
            </a:r>
            <a:r>
              <a:rPr lang="en-US" sz="4900" b="1" i="1" u="sng" dirty="0">
                <a:ln w="0"/>
                <a:solidFill>
                  <a:schemeClr val="accent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Advertisement Cost and Profit by Platform</a:t>
            </a:r>
            <a:endParaRPr lang="en-IN" sz="4900" b="1" i="1" u="sng" dirty="0">
              <a:ln w="0"/>
              <a:solidFill>
                <a:schemeClr val="accent1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E4BA58-247D-D60E-E3A3-13EF088AA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41235"/>
              </p:ext>
            </p:extLst>
          </p:nvPr>
        </p:nvGraphicFramePr>
        <p:xfrm>
          <a:off x="261257" y="2180492"/>
          <a:ext cx="11776668" cy="451171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>
                    <a:schemeClr val="accent1">
                      <a:lumMod val="75000"/>
                      <a:alpha val="50000"/>
                    </a:schemeClr>
                  </a:innerShdw>
                </a:effectLst>
                <a:tableStyleId>{3C2FFA5D-87B4-456A-9821-1D502468CF0F}</a:tableStyleId>
              </a:tblPr>
              <a:tblGrid>
                <a:gridCol w="4575438">
                  <a:extLst>
                    <a:ext uri="{9D8B030D-6E8A-4147-A177-3AD203B41FA5}">
                      <a16:colId xmlns:a16="http://schemas.microsoft.com/office/drawing/2014/main" val="3683403121"/>
                    </a:ext>
                  </a:extLst>
                </a:gridCol>
                <a:gridCol w="3758631">
                  <a:extLst>
                    <a:ext uri="{9D8B030D-6E8A-4147-A177-3AD203B41FA5}">
                      <a16:colId xmlns:a16="http://schemas.microsoft.com/office/drawing/2014/main" val="2439566648"/>
                    </a:ext>
                  </a:extLst>
                </a:gridCol>
                <a:gridCol w="3442599">
                  <a:extLst>
                    <a:ext uri="{9D8B030D-6E8A-4147-A177-3AD203B41FA5}">
                      <a16:colId xmlns:a16="http://schemas.microsoft.com/office/drawing/2014/main" val="2968044612"/>
                    </a:ext>
                  </a:extLst>
                </a:gridCol>
              </a:tblGrid>
              <a:tr h="902342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PLATFORM</a:t>
                      </a:r>
                      <a:endParaRPr lang="en-IN" sz="4400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   COST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 PROFIT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11535253"/>
                  </a:ext>
                </a:extLst>
              </a:tr>
              <a:tr h="902342"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YouTube</a:t>
                      </a:r>
                      <a:endParaRPr lang="en-US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14,35,000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24,50,000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72071047"/>
                  </a:ext>
                </a:extLst>
              </a:tr>
              <a:tr h="902342"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Facebook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13,37,000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22,76,000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27875381"/>
                  </a:ext>
                </a:extLst>
              </a:tr>
              <a:tr h="902342"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Instagram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13,24,000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22,79,500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80244145"/>
                  </a:ext>
                </a:extLst>
              </a:tr>
              <a:tr h="902342">
                <a:tc>
                  <a:txBody>
                    <a:bodyPr/>
                    <a:lstStyle/>
                    <a:p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Google</a:t>
                      </a:r>
                      <a:r>
                        <a:rPr lang="en-US" dirty="0"/>
                        <a:t> </a:t>
                      </a:r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Ads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12,95,500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22,33,000</a:t>
                      </a:r>
                      <a:endParaRPr lang="en-IN" sz="4400" b="1" i="0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179874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0551049-153D-C09D-E9AD-9526C6F47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959" y="463818"/>
            <a:ext cx="1383241" cy="1256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B5DEB2-45E6-0B77-EBE6-1C802E245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34494" y="2720732"/>
            <a:ext cx="2151946" cy="1616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6A87C-EF41-1173-9E28-D71619B3D2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026663" y="4137268"/>
            <a:ext cx="694234" cy="6519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16390C-E286-6248-8C45-FEBAE0BC3A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flipH="1">
            <a:off x="3026663" y="5022806"/>
            <a:ext cx="694234" cy="694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6BD6AE-1035-62DD-6269-C497345A09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63" y="5837970"/>
            <a:ext cx="804674" cy="8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1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1464-DBB2-D396-86BB-DDC9075D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40" y="377057"/>
            <a:ext cx="11224009" cy="1378973"/>
          </a:xfrm>
          <a:blipFill>
            <a:blip r:embed="rId3">
              <a:alphaModFix amt="85000"/>
            </a:blip>
            <a:tile tx="0" ty="0" sx="100000" sy="100000" flip="none" algn="tl"/>
          </a:blipFill>
        </p:spPr>
        <p:txBody>
          <a:bodyPr/>
          <a:lstStyle/>
          <a:p>
            <a:pPr algn="ctr"/>
            <a:r>
              <a:rPr lang="en-US" b="1" i="1" u="sng" spc="50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Key Insights from Advertisement Data </a:t>
            </a:r>
            <a:endParaRPr lang="en-IN" b="1" i="1" u="sng" spc="50" dirty="0">
              <a:ln w="0"/>
              <a:solidFill>
                <a:schemeClr val="accent1">
                  <a:lumMod val="40000"/>
                  <a:lumOff val="6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6229DD-C45A-E0A6-669D-6EAC1315E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1739" y="1900081"/>
            <a:ext cx="11224009" cy="4247317"/>
          </a:xfrm>
          <a:prstGeom prst="rect">
            <a:avLst/>
          </a:prstGeom>
          <a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YouTube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highest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highest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among all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Facebook’s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cost is higher than Instagram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but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profit is lower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Instagram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better ROI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compared to Facebook.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Google Ads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lowest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but also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lowest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YouTube appears to be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most effective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 terms of profit generation.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280C7-3EEB-196F-BEDB-27FA06B82D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0" y="521108"/>
            <a:ext cx="2630130" cy="1315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A93BB5-CA6E-21B4-155D-75D2C8C26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561870" y="521108"/>
            <a:ext cx="2630130" cy="1315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83D42E-7D95-F596-38D9-C11E99DF81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657933" y="1661944"/>
            <a:ext cx="1397442" cy="1049502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124388B4-BDFF-CB87-E3D2-9FD93DF084D0}"/>
              </a:ext>
            </a:extLst>
          </p:cNvPr>
          <p:cNvSpPr/>
          <p:nvPr/>
        </p:nvSpPr>
        <p:spPr>
          <a:xfrm>
            <a:off x="8696896" y="1935188"/>
            <a:ext cx="218660" cy="437322"/>
          </a:xfrm>
          <a:prstGeom prst="upArrow">
            <a:avLst/>
          </a:prstGeom>
          <a:solidFill>
            <a:srgbClr val="F0B6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591DB1C7-A5BB-9108-9CD5-2E9C8242216C}"/>
              </a:ext>
            </a:extLst>
          </p:cNvPr>
          <p:cNvSpPr/>
          <p:nvPr/>
        </p:nvSpPr>
        <p:spPr>
          <a:xfrm>
            <a:off x="9015955" y="1935188"/>
            <a:ext cx="218660" cy="437322"/>
          </a:xfrm>
          <a:prstGeom prst="upArrow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2F6B63-7B95-6900-3055-E387D76996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7657933" y="2711446"/>
            <a:ext cx="464067" cy="435791"/>
          </a:xfrm>
          <a:prstGeom prst="rect">
            <a:avLst/>
          </a:prstGeom>
        </p:spPr>
      </p:pic>
      <p:sp>
        <p:nvSpPr>
          <p:cNvPr id="13" name="Arrow: Up 12">
            <a:extLst>
              <a:ext uri="{FF2B5EF4-FFF2-40B4-BE49-F238E27FC236}">
                <a16:creationId xmlns:a16="http://schemas.microsoft.com/office/drawing/2014/main" id="{FF366ED7-BDDB-DAED-64EF-D6FDECF28C3F}"/>
              </a:ext>
            </a:extLst>
          </p:cNvPr>
          <p:cNvSpPr/>
          <p:nvPr/>
        </p:nvSpPr>
        <p:spPr>
          <a:xfrm>
            <a:off x="8218226" y="2709915"/>
            <a:ext cx="218660" cy="437322"/>
          </a:xfrm>
          <a:prstGeom prst="upArrow">
            <a:avLst/>
          </a:prstGeom>
          <a:solidFill>
            <a:srgbClr val="F0B6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D8F2A37-C0EA-2099-280C-15FCE6EF9390}"/>
              </a:ext>
            </a:extLst>
          </p:cNvPr>
          <p:cNvSpPr/>
          <p:nvPr/>
        </p:nvSpPr>
        <p:spPr>
          <a:xfrm>
            <a:off x="8465033" y="2708730"/>
            <a:ext cx="189592" cy="441223"/>
          </a:xfrm>
          <a:prstGeom prst="downArrow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83F3B1-11D4-4DEA-AA41-F0CC2B9EAF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 flipH="1">
            <a:off x="9426075" y="2708730"/>
            <a:ext cx="438507" cy="438507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63DFA0CA-BAFD-AA7D-AB07-B80D1684DF2C}"/>
              </a:ext>
            </a:extLst>
          </p:cNvPr>
          <p:cNvSpPr/>
          <p:nvPr/>
        </p:nvSpPr>
        <p:spPr>
          <a:xfrm>
            <a:off x="9930594" y="2708730"/>
            <a:ext cx="189592" cy="441223"/>
          </a:xfrm>
          <a:prstGeom prst="downArrow">
            <a:avLst/>
          </a:prstGeom>
          <a:solidFill>
            <a:srgbClr val="F0B6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FDB041E9-08B8-5DED-F10B-D884EF59546F}"/>
              </a:ext>
            </a:extLst>
          </p:cNvPr>
          <p:cNvSpPr/>
          <p:nvPr/>
        </p:nvSpPr>
        <p:spPr>
          <a:xfrm>
            <a:off x="10125952" y="2709915"/>
            <a:ext cx="218660" cy="437322"/>
          </a:xfrm>
          <a:prstGeom prst="upArrow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2D4A4B-C9C1-DCE1-2CAF-31898FB514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 flipV="1">
            <a:off x="6188941" y="3473082"/>
            <a:ext cx="636439" cy="5445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12487F5-7E53-5AE5-3F79-086872BB25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 flipV="1">
            <a:off x="9007767" y="5106700"/>
            <a:ext cx="636439" cy="544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3BC125-19F6-D615-CF10-CD7DA5F28D5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243" y="4360100"/>
            <a:ext cx="437322" cy="437322"/>
          </a:xfrm>
          <a:prstGeom prst="rect">
            <a:avLst/>
          </a:prstGeom>
        </p:spPr>
      </p:pic>
      <p:sp>
        <p:nvSpPr>
          <p:cNvPr id="29" name="Arrow: Down 28">
            <a:extLst>
              <a:ext uri="{FF2B5EF4-FFF2-40B4-BE49-F238E27FC236}">
                <a16:creationId xmlns:a16="http://schemas.microsoft.com/office/drawing/2014/main" id="{A5412DC0-52E9-1FB9-1890-9D93B7617761}"/>
              </a:ext>
            </a:extLst>
          </p:cNvPr>
          <p:cNvSpPr/>
          <p:nvPr/>
        </p:nvSpPr>
        <p:spPr>
          <a:xfrm>
            <a:off x="7445067" y="4356199"/>
            <a:ext cx="189592" cy="441223"/>
          </a:xfrm>
          <a:prstGeom prst="downArrow">
            <a:avLst/>
          </a:prstGeom>
          <a:solidFill>
            <a:srgbClr val="F0B6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D63BFECE-49DB-7CAC-F7EA-C93CD8D312E3}"/>
              </a:ext>
            </a:extLst>
          </p:cNvPr>
          <p:cNvSpPr/>
          <p:nvPr/>
        </p:nvSpPr>
        <p:spPr>
          <a:xfrm>
            <a:off x="7700374" y="4356199"/>
            <a:ext cx="189592" cy="441223"/>
          </a:xfrm>
          <a:prstGeom prst="downArrow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81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4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900</Words>
  <Application>Microsoft Office PowerPoint</Application>
  <PresentationFormat>Widescreen</PresentationFormat>
  <Paragraphs>138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DIGITAL ADVERTISEMENT CAMPAIGN ANALYSIS</vt:lpstr>
      <vt:lpstr>PowerPoint Presentation</vt:lpstr>
      <vt:lpstr>    April 2024 Ad Campaign Performance</vt:lpstr>
      <vt:lpstr>    May 2024 Ad Campaign Performance</vt:lpstr>
      <vt:lpstr>    June 2024 Ad Campaign Performance</vt:lpstr>
      <vt:lpstr>July 2024 Ad Campaign Performance</vt:lpstr>
      <vt:lpstr>    August 2024 Ad Campaign Performance</vt:lpstr>
      <vt:lpstr>        September 2024 Ad Campaign Performance</vt:lpstr>
      <vt:lpstr>        October 2024 Ad Campaign Performance</vt:lpstr>
      <vt:lpstr>        November 2024 Ad Campaign Performance</vt:lpstr>
      <vt:lpstr>        December 2024 Ad Campaign Performance</vt:lpstr>
      <vt:lpstr>        January 2025 Ad Campaign Performance</vt:lpstr>
      <vt:lpstr>        February 2025 Ad Campaign Performance</vt:lpstr>
      <vt:lpstr>        March 2025 Ad Campaign Performance</vt:lpstr>
      <vt:lpstr>               Advertisement Cost and Profit by Platform</vt:lpstr>
      <vt:lpstr>Key Insights from Advertisement Data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Naman Goel</dc:creator>
  <cp:lastModifiedBy>Naman Goel</cp:lastModifiedBy>
  <cp:revision>45</cp:revision>
  <dcterms:created xsi:type="dcterms:W3CDTF">2025-09-28T09:42:23Z</dcterms:created>
  <dcterms:modified xsi:type="dcterms:W3CDTF">2025-10-29T14:32:48Z</dcterms:modified>
</cp:coreProperties>
</file>